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Proposed integration schematic based on the components in the supplied deck. UART crosses STM32 TX to ESP32 RX and STM32 RX to ESP32 TX. Probe and ultrasonic inputs require voltage compatibility checks. Motor voltage and regulator capacity must match the selected modules. Do not connect raw battery voltage to logic supply pins. Exact GPIO allocation is intentionally pending timer/DMA resource planning. Wired probes attach at stationary test points.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AI-generated rendered concept created for this presentation using the built-in image-generation tool. This is a proposed physical layout, not a photograph of a built prototype or dimensioned CAD assembly. Two drive wheels and a rear caster support differential drive. Separate motor power wiring from the signal-probe wiring. Probe inputs measure locally attached wired signals at stopped test locations.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Google Shape;67;p1"/>
          <p:cNvPicPr>
            <a:picLocks noChangeAspect="1"/>
          </p:cNvPicPr>
          <p:nvPr/>
        </p:nvPicPr>
        <p:blipFill rotWithShape="1">
          <a:blip r:embed="rId3">
            <a:alphaModFix/>
          </a:blip>
          <a:srcRect/>
          <a:stretch/>
        </p:blipFill>
        <p:spPr>
          <a:xfrm>
            <a:off x="10561320" y="365760"/>
            <a:ext cx="1051560" cy="777240"/>
          </a:xfrm>
          <a:prstGeom prst="rect">
            <a:avLst/>
          </a:prstGeom>
          <a:ln>
            <a:noFill/>
          </a:ln>
        </p:spPr>
      </p:pic>
      <p:sp>
        <p:nvSpPr>
          <p:cNvPr id="68" name="Google Shape;68;p1">
            <a:extLst>
              <a:ext uri="{FF2B5EF4-FFF2-40B4-BE49-F238E27FC236}">
                <a16:creationId xmlns:a16="http://schemas.microsoft.com/office/drawing/2014/main" id="{DB271B45-F210-4CA7-A29C-369995E6CB82}"/>
              </a:ext>
            </a:extLst>
          </p:cNvPr>
          <p:cNvSpPr>
            <a:spLocks noGrp="1"/>
          </p:cNvSpPr>
          <p:nvPr/>
        </p:nvSpPr>
        <p:spPr>
          <a:xfrm>
            <a:off x="731520" y="502920"/>
            <a:ext cx="9509700" cy="640200"/>
          </a:xfrm>
          <a:prstGeom prst="rect">
            <a:avLst/>
          </a:prstGeom>
          <a:noFill/>
          <a:ln>
            <a:noFill/>
          </a:ln>
        </p:spPr>
        <p:txBody>
          <a:bodyPr spcFirstLastPara="1" wrap="square" lIns="91425" tIns="45700" rIns="91425" bIns="45700" anchor="ctr">
            <a:noAutofit/>
          </a:bodyPr>
          <a:lstStyle/>
          <a:p>
            <a:pPr marL="0" marR="0" lvl="0" indent="0" algn="l">
              <a:spcBef>
                <a:spcPts val="0"/>
              </a:spcBef>
              <a:spcAft>
                <a:spcPts val="0"/>
              </a:spcAft>
              <a:buClr>
                <a:srgbClr val="FFFFFF"/>
              </a:buClr>
              <a:buSzPts val="2000"/>
              <a:buFont typeface="Cambria"/>
              <a:buNone/>
            </a:pPr>
            <a:r>
              <a:rPr sz="2000" b="1" i="0" u="none" cap="none" dirty="0">
                <a:latin typeface="Cambria"/>
                <a:ea typeface="Cambria"/>
                <a:cs typeface="Cambria"/>
              </a:rPr>
              <a:t>21ECC301P - MICROPROCESSOR, MICROCONTROLLER, AND INTERFACING TECHNIQUES</a:t>
            </a:r>
            <a:endParaRPr sz="2000" b="0" i="0" u="none" cap="none" dirty="0">
              <a:latin typeface="Calibri"/>
              <a:ea typeface="Calibri"/>
              <a:cs typeface="Calibri"/>
            </a:endParaRPr>
          </a:p>
        </p:txBody>
      </p:sp>
      <p:sp>
        <p:nvSpPr>
          <p:cNvPr id="69" name="Google Shape;69;p1">
            <a:extLst>
              <a:ext uri="{FF2B5EF4-FFF2-40B4-BE49-F238E27FC236}">
                <a16:creationId xmlns:a16="http://schemas.microsoft.com/office/drawing/2014/main" id="{E305BF4D-58CE-4B8C-931D-44E1C45CDE0C}"/>
              </a:ext>
            </a:extLst>
          </p:cNvPr>
          <p:cNvSpPr>
            <a:spLocks noGrp="1"/>
          </p:cNvSpPr>
          <p:nvPr/>
        </p:nvSpPr>
        <p:spPr>
          <a:xfrm>
            <a:off x="731520" y="1600200"/>
            <a:ext cx="5486400" cy="502800"/>
          </a:xfrm>
          <a:prstGeom prst="rect">
            <a:avLst/>
          </a:prstGeom>
          <a:noFill/>
          <a:ln>
            <a:noFill/>
          </a:ln>
        </p:spPr>
        <p:txBody>
          <a:bodyPr spcFirstLastPara="1" wrap="square" lIns="91425" tIns="45700" rIns="91425" bIns="45700" anchor="ctr">
            <a:noAutofit/>
          </a:bodyPr>
          <a:lstStyle/>
          <a:p>
            <a:pPr marL="0" marR="0" lvl="0" indent="0" algn="l">
              <a:spcBef>
                <a:spcPts val="0"/>
              </a:spcBef>
              <a:spcAft>
                <a:spcPts val="0"/>
              </a:spcAft>
              <a:buClr>
                <a:srgbClr val="CADCFC"/>
              </a:buClr>
              <a:buSzPts val="2000"/>
              <a:buFont typeface="Calibri"/>
              <a:buNone/>
            </a:pPr>
            <a:r>
              <a:rPr sz="2000" b="1" i="0" u="sng" cap="none">
                <a:latin typeface="Calibri"/>
                <a:ea typeface="Calibri"/>
                <a:cs typeface="Calibri"/>
              </a:rPr>
              <a:t>REVIEW - 1</a:t>
            </a:r>
            <a:endParaRPr sz="2000" b="0" i="0" u="none" cap="none">
              <a:latin typeface="Calibri"/>
              <a:ea typeface="Calibri"/>
              <a:cs typeface="Calibri"/>
            </a:endParaRPr>
          </a:p>
        </p:txBody>
      </p:sp>
      <p:sp>
        <p:nvSpPr>
          <p:cNvPr id="70" name="Google Shape;70;p1">
            <a:extLst>
              <a:ext uri="{FF2B5EF4-FFF2-40B4-BE49-F238E27FC236}">
                <a16:creationId xmlns:a16="http://schemas.microsoft.com/office/drawing/2014/main" id="{0C80BEAC-54FD-4C4F-917B-217CE05E4C36}"/>
              </a:ext>
            </a:extLst>
          </p:cNvPr>
          <p:cNvSpPr>
            <a:spLocks noGrp="1"/>
          </p:cNvSpPr>
          <p:nvPr/>
        </p:nvSpPr>
        <p:spPr>
          <a:xfrm>
            <a:off x="731520" y="2286000"/>
            <a:ext cx="10607100" cy="1828800"/>
          </a:xfrm>
          <a:prstGeom prst="rect">
            <a:avLst/>
          </a:prstGeom>
          <a:noFill/>
          <a:ln>
            <a:noFill/>
          </a:ln>
        </p:spPr>
        <p:txBody>
          <a:bodyPr spcFirstLastPara="1" wrap="square" lIns="91425" tIns="45700" rIns="91425" bIns="45700" anchor="ctr">
            <a:noAutofit/>
          </a:bodyPr>
          <a:lstStyle/>
          <a:p>
            <a:pPr marL="0" marR="0" lvl="0" indent="0" algn="l">
              <a:lnSpc>
                <a:spcPct val="115000"/>
              </a:lnSpc>
              <a:spcBef>
                <a:spcPts val="0"/>
              </a:spcBef>
              <a:spcAft>
                <a:spcPts val="0"/>
              </a:spcAft>
              <a:buClr>
                <a:srgbClr val="FFFFFF"/>
              </a:buClr>
              <a:buSzPts val="3000"/>
              <a:buFont typeface="Cambria"/>
              <a:buNone/>
            </a:pPr>
            <a:r>
              <a:rPr sz="3000" b="1" i="0" u="none" cap="none" dirty="0">
                <a:latin typeface="Cambria"/>
                <a:ea typeface="Cambria"/>
                <a:cs typeface="Cambria"/>
              </a:rPr>
              <a:t>Design and Implementation of an Autonomous Mobile</a:t>
            </a:r>
            <a:endParaRPr sz="3000" b="0" i="0" u="none" cap="none" dirty="0">
              <a:latin typeface="Calibri"/>
              <a:ea typeface="Calibri"/>
              <a:cs typeface="Calibri"/>
            </a:endParaRPr>
          </a:p>
          <a:p>
            <a:pPr marL="0" marR="0" lvl="0" indent="0" algn="l">
              <a:lnSpc>
                <a:spcPct val="115000"/>
              </a:lnSpc>
              <a:spcBef>
                <a:spcPts val="0"/>
              </a:spcBef>
              <a:spcAft>
                <a:spcPts val="0"/>
              </a:spcAft>
              <a:buClr>
                <a:srgbClr val="FFFFFF"/>
              </a:buClr>
              <a:buSzPts val="3000"/>
              <a:buFont typeface="Cambria"/>
              <a:buNone/>
            </a:pPr>
            <a:r>
              <a:rPr sz="3000" b="1" i="0" u="none" cap="none" dirty="0">
                <a:latin typeface="Cambria"/>
                <a:ea typeface="Cambria"/>
                <a:cs typeface="Cambria"/>
              </a:rPr>
              <a:t>STM32-Based System for Spatial Digital Communication</a:t>
            </a:r>
            <a:endParaRPr sz="3000" b="0" i="0" u="none" cap="none" dirty="0">
              <a:latin typeface="Calibri"/>
              <a:ea typeface="Calibri"/>
              <a:cs typeface="Calibri"/>
            </a:endParaRPr>
          </a:p>
          <a:p>
            <a:pPr marL="0" marR="0" lvl="0" indent="0" algn="l">
              <a:lnSpc>
                <a:spcPct val="115000"/>
              </a:lnSpc>
              <a:spcBef>
                <a:spcPts val="0"/>
              </a:spcBef>
              <a:spcAft>
                <a:spcPts val="0"/>
              </a:spcAft>
              <a:buClr>
                <a:srgbClr val="FFFFFF"/>
              </a:buClr>
              <a:buSzPts val="3000"/>
              <a:buFont typeface="Cambria"/>
              <a:buNone/>
            </a:pPr>
            <a:r>
              <a:rPr sz="3000" b="1" i="0" u="none" cap="none" dirty="0">
                <a:latin typeface="Cambria"/>
                <a:ea typeface="Cambria"/>
                <a:cs typeface="Cambria"/>
              </a:rPr>
              <a:t>Analysis and Signal Fault Localization</a:t>
            </a:r>
            <a:endParaRPr sz="3000" b="0" i="0" u="none" cap="none" dirty="0">
              <a:latin typeface="Calibri"/>
              <a:ea typeface="Calibri"/>
              <a:cs typeface="Calibri"/>
            </a:endParaRPr>
          </a:p>
        </p:txBody>
      </p:sp>
      <p:sp>
        <p:nvSpPr>
          <p:cNvPr id="71" name="Google Shape;71;p1">
            <a:extLst>
              <a:ext uri="{FF2B5EF4-FFF2-40B4-BE49-F238E27FC236}">
                <a16:creationId xmlns:a16="http://schemas.microsoft.com/office/drawing/2014/main" id="{AE383D11-08DE-4213-BAA9-4C4A9A5C36E9}"/>
              </a:ext>
            </a:extLst>
          </p:cNvPr>
          <p:cNvSpPr>
            <a:spLocks noGrp="1"/>
          </p:cNvSpPr>
          <p:nvPr/>
        </p:nvSpPr>
        <p:spPr>
          <a:xfrm>
            <a:off x="731525" y="3781861"/>
            <a:ext cx="8399700" cy="1280100"/>
          </a:xfrm>
          <a:prstGeom prst="rect">
            <a:avLst/>
          </a:prstGeom>
          <a:noFill/>
          <a:ln>
            <a:noFill/>
          </a:ln>
        </p:spPr>
        <p:txBody>
          <a:bodyPr spcFirstLastPara="1" wrap="square" lIns="91425" tIns="45700" rIns="91425" bIns="45700" anchor="ctr">
            <a:noAutofit/>
          </a:bodyPr>
          <a:lstStyle/>
          <a:p>
            <a:pPr marL="0" marR="0" lvl="0" indent="0" algn="l">
              <a:spcBef>
                <a:spcPts val="0"/>
              </a:spcBef>
              <a:spcAft>
                <a:spcPts val="0"/>
              </a:spcAft>
              <a:buClr>
                <a:srgbClr val="FFFFFF"/>
              </a:buClr>
              <a:buSzPts val="1600"/>
              <a:buFont typeface="Calibri"/>
              <a:buNone/>
            </a:pPr>
            <a:r>
              <a:rPr sz="1600" i="0" u="none" cap="none" dirty="0">
                <a:latin typeface="Calibri"/>
                <a:ea typeface="Calibri"/>
                <a:cs typeface="Calibri"/>
              </a:rPr>
              <a:t>1.   Shreevatsa Yeelarthi	</a:t>
            </a:r>
            <a:r>
              <a:rPr lang="en-US" sz="1600" dirty="0">
                <a:latin typeface="Calibri"/>
                <a:ea typeface="Calibri"/>
                <a:cs typeface="Calibri"/>
              </a:rPr>
              <a:t>          </a:t>
            </a:r>
            <a:r>
              <a:rPr sz="1600" i="0" u="none" cap="none" dirty="0">
                <a:latin typeface="Calibri"/>
                <a:ea typeface="Calibri"/>
                <a:cs typeface="Calibri"/>
              </a:rPr>
              <a:t>Reg. No:RA2411067010016</a:t>
            </a:r>
          </a:p>
          <a:p>
            <a:pPr marL="0" marR="0" lvl="0" indent="0" algn="l">
              <a:spcBef>
                <a:spcPts val="0"/>
              </a:spcBef>
              <a:spcAft>
                <a:spcPts val="0"/>
              </a:spcAft>
              <a:buClr>
                <a:srgbClr val="FFFFFF"/>
              </a:buClr>
              <a:buSzPts val="1600"/>
              <a:buFont typeface="Calibri"/>
              <a:buNone/>
            </a:pPr>
            <a:r>
              <a:rPr sz="1600" i="0" u="none" cap="none" dirty="0">
                <a:latin typeface="Calibri"/>
                <a:ea typeface="Calibri"/>
                <a:cs typeface="Calibri"/>
              </a:rPr>
              <a:t>2.    Utkarsh Vaibhav.                                Reg No. :RA24110670100</a:t>
            </a:r>
            <a:r>
              <a:rPr sz="1600" dirty="0">
                <a:latin typeface="Calibri"/>
                <a:ea typeface="Calibri"/>
                <a:cs typeface="Calibri"/>
              </a:rPr>
              <a:t>04</a:t>
            </a:r>
            <a:endParaRPr sz="1600" i="0" u="none" cap="none" dirty="0">
              <a:latin typeface="Calibri"/>
              <a:ea typeface="Calibri"/>
              <a:cs typeface="Calibri"/>
            </a:endParaRPr>
          </a:p>
          <a:p>
            <a:pPr marL="0" marR="0" lvl="0" indent="0" algn="l">
              <a:spcBef>
                <a:spcPts val="0"/>
              </a:spcBef>
              <a:spcAft>
                <a:spcPts val="0"/>
              </a:spcAft>
              <a:buClr>
                <a:srgbClr val="FFFFFF"/>
              </a:buClr>
              <a:buSzPts val="1600"/>
              <a:buFont typeface="Calibri"/>
              <a:buNone/>
            </a:pPr>
            <a:r>
              <a:rPr sz="1600" i="0" u="none" cap="none" dirty="0">
                <a:latin typeface="Calibri"/>
                <a:ea typeface="Calibri"/>
                <a:cs typeface="Calibri"/>
              </a:rPr>
              <a:t>3.    </a:t>
            </a:r>
            <a:r>
              <a:rPr sz="1600" b="0" i="0" u="none" cap="none" dirty="0">
                <a:latin typeface="Calibri"/>
                <a:ea typeface="Calibri"/>
                <a:cs typeface="Calibri"/>
              </a:rPr>
              <a:t>Syed Adil.                                             Reg No.:RA2411067010024</a:t>
            </a:r>
          </a:p>
        </p:txBody>
      </p:sp>
      <p:sp>
        <p:nvSpPr>
          <p:cNvPr id="72" name="Google Shape;72;p1">
            <a:extLst>
              <a:ext uri="{FF2B5EF4-FFF2-40B4-BE49-F238E27FC236}">
                <a16:creationId xmlns:a16="http://schemas.microsoft.com/office/drawing/2014/main" id="{F8D06C8E-C6F3-42A8-A660-353F17E6DE5E}"/>
              </a:ext>
            </a:extLst>
          </p:cNvPr>
          <p:cNvSpPr>
            <a:spLocks noGrp="1"/>
          </p:cNvSpPr>
          <p:nvPr/>
        </p:nvSpPr>
        <p:spPr>
          <a:xfrm>
            <a:off x="731520" y="5610661"/>
            <a:ext cx="5486400" cy="365700"/>
          </a:xfrm>
          <a:prstGeom prst="rect">
            <a:avLst/>
          </a:prstGeom>
          <a:noFill/>
          <a:ln>
            <a:noFill/>
          </a:ln>
        </p:spPr>
        <p:txBody>
          <a:bodyPr spcFirstLastPara="1" wrap="square" lIns="91425" tIns="45700" rIns="91425" bIns="45700" anchor="ctr">
            <a:noAutofit/>
          </a:bodyPr>
          <a:lstStyle/>
          <a:p>
            <a:pPr marL="0" marR="0" lvl="0" indent="0" algn="l">
              <a:spcBef>
                <a:spcPts val="0"/>
              </a:spcBef>
              <a:spcAft>
                <a:spcPts val="0"/>
              </a:spcAft>
              <a:buClr>
                <a:srgbClr val="CADCFC"/>
              </a:buClr>
              <a:buSzPts val="1300"/>
              <a:buFont typeface="Calibri"/>
              <a:buNone/>
            </a:pPr>
            <a:endParaRPr sz="1300" b="0" i="0" u="none" cap="none">
              <a:latin typeface="Calibri"/>
              <a:ea typeface="Calibri"/>
              <a:cs typeface="Calibri"/>
            </a:endParaRPr>
          </a:p>
        </p:txBody>
      </p:sp>
    </p:spTree>
    <p:extLst>
      <p:ext uri="{BB962C8B-B14F-4D97-AF65-F5344CB8AC3E}">
        <p14:creationId xmlns:p14="http://schemas.microsoft.com/office/powerpoint/2010/main" val="6146635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16C5A01A-B036-495B-BD2C-B22E60F1F6A3}"/>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EECB9902-B457-4F7F-AF7E-81A53996141F}"/>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PRESENTATION OUTLINE</a:t>
            </a:r>
            <a:endParaRPr sz="3000"/>
          </a:p>
        </p:txBody>
      </p:sp>
      <p:graphicFrame>
        <p:nvGraphicFramePr>
          <p:cNvPr id="12" name="Table 0"/>
          <p:cNvGraphicFramePr/>
          <p:nvPr/>
        </p:nvGraphicFramePr>
        <p:xfrm>
          <a:off x="1965960" y="1481328"/>
          <a:ext cx="8229600" cy="4608576"/>
        </p:xfrm>
        <a:graphic>
          <a:graphicData uri="http://schemas.openxmlformats.org/drawingml/2006/table">
            <a:tbl>
              <a:tblPr/>
              <a:tblGrid>
                <a:gridCol w="1645920">
                  <a:extLst>
                    <a:ext uri="{9D8B030D-6E8A-4147-A177-3AD203B41FA5}">
                      <a16:colId xmlns:a16="http://schemas.microsoft.com/office/drawing/2014/main" val="20000"/>
                    </a:ext>
                  </a:extLst>
                </a:gridCol>
                <a:gridCol w="6583680">
                  <a:extLst>
                    <a:ext uri="{9D8B030D-6E8A-4147-A177-3AD203B41FA5}">
                      <a16:colId xmlns:a16="http://schemas.microsoft.com/office/drawing/2014/main" val="20001"/>
                    </a:ext>
                  </a:extLst>
                </a:gridCol>
              </a:tblGrid>
              <a:tr h="384048">
                <a:tc>
                  <a:txBody>
                    <a:bodyPr/>
                    <a:lstStyle/>
                    <a:p>
                      <a:pPr marL="0" indent="0" algn="ctr">
                        <a:buNone/>
                      </a:pPr>
                      <a:r>
                        <a:rPr sz="1600" b="1">
                          <a:solidFill>
                            <a:srgbClr val="FFFFFF"/>
                          </a:solidFill>
                          <a:latin typeface="Calibri"/>
                          <a:ea typeface="Calibri"/>
                          <a:cs typeface="Calibri"/>
                        </a:rPr>
                        <a:t>S.No</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1600" b="1">
                          <a:solidFill>
                            <a:srgbClr val="FFFFFF"/>
                          </a:solidFill>
                          <a:latin typeface="Calibri"/>
                          <a:ea typeface="Calibri"/>
                          <a:cs typeface="Calibri"/>
                        </a:rPr>
                        <a:t>Title</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extLst>
                  <a:ext uri="{0D108BD9-81ED-4DB2-BD59-A6C34878D82A}">
                    <a16:rowId xmlns:a16="http://schemas.microsoft.com/office/drawing/2014/main" val="10000"/>
                  </a:ext>
                </a:extLst>
              </a:tr>
              <a:tr h="384048">
                <a:tc>
                  <a:txBody>
                    <a:bodyPr/>
                    <a:lstStyle/>
                    <a:p>
                      <a:pPr marL="0" indent="0" algn="ctr">
                        <a:buNone/>
                      </a:pPr>
                      <a:r>
                        <a:rPr sz="1600">
                          <a:solidFill>
                            <a:srgbClr val="1A1A2E"/>
                          </a:solidFill>
                          <a:latin typeface="Calibri"/>
                          <a:ea typeface="Calibri"/>
                          <a:cs typeface="Calibri"/>
                        </a:rPr>
                        <a:t>1</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Abstract</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1"/>
                  </a:ext>
                </a:extLst>
              </a:tr>
              <a:tr h="384048">
                <a:tc>
                  <a:txBody>
                    <a:bodyPr/>
                    <a:lstStyle/>
                    <a:p>
                      <a:pPr marL="0" indent="0" algn="ctr">
                        <a:buNone/>
                      </a:pPr>
                      <a:r>
                        <a:rPr sz="1600">
                          <a:solidFill>
                            <a:srgbClr val="1A1A2E"/>
                          </a:solidFill>
                          <a:latin typeface="Calibri"/>
                          <a:ea typeface="Calibri"/>
                          <a:cs typeface="Calibri"/>
                        </a:rPr>
                        <a:t>2</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600">
                          <a:solidFill>
                            <a:srgbClr val="1A1A2E"/>
                          </a:solidFill>
                          <a:latin typeface="Calibri"/>
                          <a:ea typeface="Calibri"/>
                          <a:cs typeface="Calibri"/>
                        </a:rPr>
                        <a:t>Objectives</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2"/>
                  </a:ext>
                </a:extLst>
              </a:tr>
              <a:tr h="384048">
                <a:tc>
                  <a:txBody>
                    <a:bodyPr/>
                    <a:lstStyle/>
                    <a:p>
                      <a:pPr marL="0" indent="0" algn="ctr">
                        <a:buNone/>
                      </a:pPr>
                      <a:r>
                        <a:rPr sz="1600">
                          <a:solidFill>
                            <a:srgbClr val="1A1A2E"/>
                          </a:solidFill>
                          <a:latin typeface="Calibri"/>
                          <a:ea typeface="Calibri"/>
                          <a:cs typeface="Calibri"/>
                        </a:rPr>
                        <a:t>3</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Motivation</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3"/>
                  </a:ext>
                </a:extLst>
              </a:tr>
              <a:tr h="384048">
                <a:tc>
                  <a:txBody>
                    <a:bodyPr/>
                    <a:lstStyle/>
                    <a:p>
                      <a:pPr marL="0" indent="0" algn="ctr">
                        <a:buNone/>
                      </a:pPr>
                      <a:r>
                        <a:rPr sz="1600">
                          <a:solidFill>
                            <a:srgbClr val="1A1A2E"/>
                          </a:solidFill>
                          <a:latin typeface="Calibri"/>
                          <a:ea typeface="Calibri"/>
                          <a:cs typeface="Calibri"/>
                        </a:rPr>
                        <a:t>4</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600">
                          <a:solidFill>
                            <a:srgbClr val="1A1A2E"/>
                          </a:solidFill>
                          <a:latin typeface="Calibri"/>
                          <a:ea typeface="Calibri"/>
                          <a:cs typeface="Calibri"/>
                        </a:rPr>
                        <a:t>Literature Survey</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4"/>
                  </a:ext>
                </a:extLst>
              </a:tr>
              <a:tr h="384048">
                <a:tc>
                  <a:txBody>
                    <a:bodyPr/>
                    <a:lstStyle/>
                    <a:p>
                      <a:pPr marL="0" indent="0" algn="ctr">
                        <a:buNone/>
                      </a:pPr>
                      <a:r>
                        <a:rPr sz="1600">
                          <a:solidFill>
                            <a:srgbClr val="1A1A2E"/>
                          </a:solidFill>
                          <a:latin typeface="Calibri"/>
                          <a:ea typeface="Calibri"/>
                          <a:cs typeface="Calibri"/>
                        </a:rPr>
                        <a:t>5</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Research Gap</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5"/>
                  </a:ext>
                </a:extLst>
              </a:tr>
              <a:tr h="384048">
                <a:tc>
                  <a:txBody>
                    <a:bodyPr/>
                    <a:lstStyle/>
                    <a:p>
                      <a:pPr marL="0" indent="0" algn="ctr">
                        <a:buNone/>
                      </a:pPr>
                      <a:r>
                        <a:rPr sz="1600">
                          <a:solidFill>
                            <a:srgbClr val="1A1A2E"/>
                          </a:solidFill>
                          <a:latin typeface="Calibri"/>
                          <a:ea typeface="Calibri"/>
                          <a:cs typeface="Calibri"/>
                        </a:rPr>
                        <a:t>6</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600">
                          <a:solidFill>
                            <a:srgbClr val="1A1A2E"/>
                          </a:solidFill>
                          <a:latin typeface="Calibri"/>
                          <a:ea typeface="Calibri"/>
                          <a:cs typeface="Calibri"/>
                        </a:rPr>
                        <a:t>Proposed System</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6"/>
                  </a:ext>
                </a:extLst>
              </a:tr>
              <a:tr h="384048">
                <a:tc>
                  <a:txBody>
                    <a:bodyPr/>
                    <a:lstStyle/>
                    <a:p>
                      <a:pPr marL="0" indent="0" algn="ctr">
                        <a:buNone/>
                      </a:pPr>
                      <a:r>
                        <a:rPr sz="1600">
                          <a:solidFill>
                            <a:srgbClr val="1A1A2E"/>
                          </a:solidFill>
                          <a:latin typeface="Calibri"/>
                          <a:ea typeface="Calibri"/>
                          <a:cs typeface="Calibri"/>
                        </a:rPr>
                        <a:t>7</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Block Diagram</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7"/>
                  </a:ext>
                </a:extLst>
              </a:tr>
              <a:tr h="384048">
                <a:tc>
                  <a:txBody>
                    <a:bodyPr/>
                    <a:lstStyle/>
                    <a:p>
                      <a:pPr marL="0" indent="0" algn="ctr">
                        <a:buNone/>
                      </a:pPr>
                      <a:r>
                        <a:rPr sz="1600">
                          <a:solidFill>
                            <a:srgbClr val="1A1A2E"/>
                          </a:solidFill>
                          <a:latin typeface="Calibri"/>
                          <a:ea typeface="Calibri"/>
                          <a:cs typeface="Calibri"/>
                        </a:rPr>
                        <a:t>8</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600">
                          <a:solidFill>
                            <a:srgbClr val="1A1A2E"/>
                          </a:solidFill>
                          <a:latin typeface="Calibri"/>
                          <a:ea typeface="Calibri"/>
                          <a:cs typeface="Calibri"/>
                        </a:rPr>
                        <a:t>Hardware &amp; Software Requirements</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8"/>
                  </a:ext>
                </a:extLst>
              </a:tr>
              <a:tr h="384048">
                <a:tc>
                  <a:txBody>
                    <a:bodyPr/>
                    <a:lstStyle/>
                    <a:p>
                      <a:pPr marL="0" indent="0" algn="ctr">
                        <a:buNone/>
                      </a:pPr>
                      <a:r>
                        <a:rPr sz="1600">
                          <a:solidFill>
                            <a:srgbClr val="1A1A2E"/>
                          </a:solidFill>
                          <a:latin typeface="Calibri"/>
                          <a:ea typeface="Calibri"/>
                          <a:cs typeface="Calibri"/>
                        </a:rPr>
                        <a:t>9</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Result and Discussion</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9"/>
                  </a:ext>
                </a:extLst>
              </a:tr>
              <a:tr h="384048">
                <a:tc>
                  <a:txBody>
                    <a:bodyPr/>
                    <a:lstStyle/>
                    <a:p>
                      <a:pPr marL="0" indent="0" algn="ctr">
                        <a:buNone/>
                      </a:pPr>
                      <a:r>
                        <a:rPr sz="1600">
                          <a:solidFill>
                            <a:srgbClr val="1A1A2E"/>
                          </a:solidFill>
                          <a:latin typeface="Calibri"/>
                          <a:ea typeface="Calibri"/>
                          <a:cs typeface="Calibri"/>
                        </a:rPr>
                        <a:t>10</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600">
                          <a:solidFill>
                            <a:srgbClr val="1A1A2E"/>
                          </a:solidFill>
                          <a:latin typeface="Calibri"/>
                          <a:ea typeface="Calibri"/>
                          <a:cs typeface="Calibri"/>
                        </a:rPr>
                        <a:t>Conclusion</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10"/>
                  </a:ext>
                </a:extLst>
              </a:tr>
              <a:tr h="384048">
                <a:tc>
                  <a:txBody>
                    <a:bodyPr/>
                    <a:lstStyle/>
                    <a:p>
                      <a:pPr marL="0" indent="0" algn="ctr">
                        <a:buNone/>
                      </a:pPr>
                      <a:r>
                        <a:rPr sz="1600">
                          <a:solidFill>
                            <a:srgbClr val="1A1A2E"/>
                          </a:solidFill>
                          <a:latin typeface="Calibri"/>
                          <a:ea typeface="Calibri"/>
                          <a:cs typeface="Calibri"/>
                        </a:rPr>
                        <a:t>11</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600">
                          <a:solidFill>
                            <a:srgbClr val="1A1A2E"/>
                          </a:solidFill>
                          <a:latin typeface="Calibri"/>
                          <a:ea typeface="Calibri"/>
                          <a:cs typeface="Calibri"/>
                        </a:rPr>
                        <a:t>References</a:t>
                      </a:r>
                      <a:endParaRPr sz="16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11"/>
                  </a:ext>
                </a:extLst>
              </a:tr>
            </a:tbl>
          </a:graphicData>
        </a:graphic>
      </p:graphicFrame>
      <p:sp>
        <p:nvSpPr>
          <p:cNvPr id="6" name="Text 2">
            <a:extLst>
              <a:ext uri="{FF2B5EF4-FFF2-40B4-BE49-F238E27FC236}">
                <a16:creationId xmlns:a16="http://schemas.microsoft.com/office/drawing/2014/main" id="{42E1A71B-D2D2-4450-842D-02B3D49339C0}"/>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2</a:t>
            </a:r>
            <a:endParaRPr sz="1100"/>
          </a:p>
        </p:txBody>
      </p:sp>
    </p:spTree>
    <p:extLst>
      <p:ext uri="{BB962C8B-B14F-4D97-AF65-F5344CB8AC3E}">
        <p14:creationId xmlns:p14="http://schemas.microsoft.com/office/powerpoint/2010/main" val="198210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A13E8D65-96B4-4353-ABBD-9CEB55A82619}"/>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E1C0054E-C1FA-42D9-8376-8C57DB101679}"/>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ABSTRACT</a:t>
            </a:r>
            <a:endParaRPr sz="3000"/>
          </a:p>
        </p:txBody>
      </p:sp>
      <p:sp>
        <p:nvSpPr>
          <p:cNvPr id="5" name="Text 2">
            <a:extLst>
              <a:ext uri="{FF2B5EF4-FFF2-40B4-BE49-F238E27FC236}">
                <a16:creationId xmlns:a16="http://schemas.microsoft.com/office/drawing/2014/main" id="{A8D02E8A-B526-4F82-9920-5DB50D0266A9}"/>
              </a:ext>
            </a:extLst>
          </p:cNvPr>
          <p:cNvSpPr>
            <a:spLocks noGrp="1"/>
          </p:cNvSpPr>
          <p:nvPr/>
        </p:nvSpPr>
        <p:spPr>
          <a:xfrm>
            <a:off x="731520" y="1508760"/>
            <a:ext cx="10698480" cy="4572000"/>
          </a:xfrm>
          <a:prstGeom prst="rect">
            <a:avLst/>
          </a:prstGeom>
          <a:noFill/>
        </p:spPr>
        <p:txBody>
          <a:bodyPr wrap="square" anchor="t"/>
          <a:lstStyle/>
          <a:p>
            <a:pPr marL="228600" indent="-228600">
              <a:spcAft>
                <a:spcPts val="1400"/>
              </a:spcAft>
              <a:buSzPct val="100000"/>
              <a:buChar char="●"/>
            </a:pPr>
            <a:r>
              <a:rPr sz="1600">
                <a:solidFill>
                  <a:srgbClr val="1A1A2E"/>
                </a:solidFill>
                <a:latin typeface="Calibri"/>
                <a:ea typeface="Calibri"/>
                <a:cs typeface="Calibri"/>
              </a:rPr>
              <a:t>Digital communication systems such as UART, SPI, I2C, RS485, Wi-Fi, Bluetooth, and LoRa are widely used in embedded and IoT applications, but their performance varies with distance, obstacles, electrical noise, wiring quality, and environment.</a:t>
            </a:r>
            <a:endParaRPr sz="1600"/>
          </a:p>
          <a:p>
            <a:pPr marL="228600" indent="-228600">
              <a:spcAft>
                <a:spcPts val="1400"/>
              </a:spcAft>
              <a:buSzPct val="100000"/>
              <a:buChar char="●"/>
            </a:pPr>
            <a:r>
              <a:rPr sz="1600">
                <a:solidFill>
                  <a:srgbClr val="1A1A2E"/>
                </a:solidFill>
                <a:latin typeface="Calibri"/>
                <a:ea typeface="Calibri"/>
                <a:cs typeface="Calibri"/>
              </a:rPr>
              <a:t>Conventional logic analyzers display digital waveforms but are stationary and cannot show how communication quality changes across a physical space.</a:t>
            </a:r>
            <a:endParaRPr sz="1600"/>
          </a:p>
          <a:p>
            <a:pPr marL="228600" indent="-228600">
              <a:spcAft>
                <a:spcPts val="1400"/>
              </a:spcAft>
              <a:buSzPct val="100000"/>
              <a:buChar char="●"/>
            </a:pPr>
            <a:r>
              <a:rPr sz="1600">
                <a:solidFill>
                  <a:srgbClr val="1A1A2E"/>
                </a:solidFill>
                <a:latin typeface="Calibri"/>
                <a:ea typeface="Calibri"/>
                <a:cs typeface="Calibri"/>
              </a:rPr>
              <a:t>This project proposes an autonomous mobile embedded platform — a differential-drive rover fitted with an STM32-based logic analyzer, wireless modules, encoders, an IMU, and distance sensors — for spatial communication analysis.</a:t>
            </a:r>
            <a:endParaRPr sz="1600"/>
          </a:p>
          <a:p>
            <a:pPr marL="228600" indent="-228600">
              <a:spcAft>
                <a:spcPts val="1400"/>
              </a:spcAft>
              <a:buSzPct val="100000"/>
              <a:buChar char="●"/>
            </a:pPr>
            <a:r>
              <a:rPr sz="1600">
                <a:solidFill>
                  <a:srgbClr val="1A1A2E"/>
                </a:solidFill>
                <a:latin typeface="Calibri"/>
                <a:ea typeface="Calibri"/>
                <a:cs typeface="Calibri"/>
              </a:rPr>
              <a:t>The rover collects digital and wireless measurements at multiple locations, transfers them to a Python application, and generates a spatial signal-quality map, extending a conventional logic analyzer into a mobile cyber-physical system.</a:t>
            </a:r>
            <a:endParaRPr sz="1600"/>
          </a:p>
        </p:txBody>
      </p:sp>
      <p:sp>
        <p:nvSpPr>
          <p:cNvPr id="6" name="Text 3">
            <a:extLst>
              <a:ext uri="{FF2B5EF4-FFF2-40B4-BE49-F238E27FC236}">
                <a16:creationId xmlns:a16="http://schemas.microsoft.com/office/drawing/2014/main" id="{87D93560-7C38-44F1-A39B-AAC78AEA7F3D}"/>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3</a:t>
            </a:r>
            <a:endParaRPr sz="1100"/>
          </a:p>
        </p:txBody>
      </p:sp>
    </p:spTree>
    <p:extLst>
      <p:ext uri="{BB962C8B-B14F-4D97-AF65-F5344CB8AC3E}">
        <p14:creationId xmlns:p14="http://schemas.microsoft.com/office/powerpoint/2010/main" val="3524394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8621CA55-B6AD-45C4-A7F5-6773785F3D13}"/>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2136C519-7743-4FBE-BE4F-348BE8320209}"/>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OBJECTIVES</a:t>
            </a:r>
            <a:endParaRPr sz="3000"/>
          </a:p>
        </p:txBody>
      </p:sp>
      <p:sp>
        <p:nvSpPr>
          <p:cNvPr id="7" name="Text 4">
            <a:extLst>
              <a:ext uri="{FF2B5EF4-FFF2-40B4-BE49-F238E27FC236}">
                <a16:creationId xmlns:a16="http://schemas.microsoft.com/office/drawing/2014/main" id="{0F74D7DF-06CC-49AD-A897-DF19EF1D5068}"/>
              </a:ext>
            </a:extLst>
          </p:cNvPr>
          <p:cNvSpPr>
            <a:spLocks noGrp="1"/>
          </p:cNvSpPr>
          <p:nvPr/>
        </p:nvSpPr>
        <p:spPr>
          <a:xfrm>
            <a:off x="914400" y="1691640"/>
            <a:ext cx="9822426" cy="4206240"/>
          </a:xfrm>
          <a:prstGeom prst="rect">
            <a:avLst/>
          </a:prstGeom>
          <a:noFill/>
        </p:spPr>
        <p:txBody>
          <a:bodyPr wrap="square" anchor="t"/>
          <a:lstStyle/>
          <a:p>
            <a:pPr marL="228600" indent="-228600">
              <a:spcAft>
                <a:spcPts val="1200"/>
              </a:spcAft>
              <a:buSzPct val="100000"/>
              <a:buChar char="●"/>
            </a:pPr>
            <a:r>
              <a:rPr sz="1450" dirty="0">
                <a:solidFill>
                  <a:srgbClr val="1A1A2E"/>
                </a:solidFill>
                <a:latin typeface="Calibri"/>
                <a:ea typeface="Calibri"/>
                <a:cs typeface="Calibri"/>
              </a:rPr>
              <a:t>Design a small autonomous differential-drive rover.</a:t>
            </a:r>
            <a:endParaRPr sz="1450" dirty="0"/>
          </a:p>
          <a:p>
            <a:pPr marL="228600" indent="-228600">
              <a:spcAft>
                <a:spcPts val="1200"/>
              </a:spcAft>
              <a:buSzPct val="100000"/>
              <a:buChar char="●"/>
            </a:pPr>
            <a:r>
              <a:rPr sz="1450" dirty="0">
                <a:solidFill>
                  <a:srgbClr val="1A1A2E"/>
                </a:solidFill>
                <a:latin typeface="Calibri"/>
                <a:ea typeface="Calibri"/>
                <a:cs typeface="Calibri"/>
              </a:rPr>
              <a:t>Integrate the existing STM32 digital logic analyzer into the rover.</a:t>
            </a:r>
            <a:endParaRPr sz="1450" dirty="0"/>
          </a:p>
          <a:p>
            <a:pPr marL="228600" indent="-228600">
              <a:spcAft>
                <a:spcPts val="1200"/>
              </a:spcAft>
              <a:buSzPct val="100000"/>
              <a:buChar char="●"/>
            </a:pPr>
            <a:r>
              <a:rPr sz="1450" dirty="0">
                <a:solidFill>
                  <a:srgbClr val="1A1A2E"/>
                </a:solidFill>
                <a:latin typeface="Calibri"/>
                <a:ea typeface="Calibri"/>
                <a:cs typeface="Calibri"/>
              </a:rPr>
              <a:t>Capture UART, GPIO, PWM, and selected serial signals.</a:t>
            </a:r>
            <a:endParaRPr sz="1450" dirty="0"/>
          </a:p>
          <a:p>
            <a:pPr marL="228600" indent="-228600">
              <a:spcAft>
                <a:spcPts val="1200"/>
              </a:spcAft>
              <a:buSzPct val="100000"/>
              <a:buChar char="●"/>
            </a:pPr>
            <a:r>
              <a:rPr sz="1450" dirty="0">
                <a:solidFill>
                  <a:srgbClr val="1A1A2E"/>
                </a:solidFill>
                <a:latin typeface="Calibri"/>
                <a:ea typeface="Calibri"/>
                <a:cs typeface="Calibri"/>
              </a:rPr>
              <a:t>Measure wireless signal strength via Wi-Fi, Bluetooth, or LoRa.</a:t>
            </a:r>
            <a:endParaRPr sz="1450" dirty="0"/>
          </a:p>
          <a:p>
            <a:pPr marL="228600" indent="-228600">
              <a:spcAft>
                <a:spcPts val="1200"/>
              </a:spcAft>
              <a:buSzPct val="100000"/>
              <a:buChar char="●"/>
            </a:pPr>
            <a:r>
              <a:rPr sz="1450" dirty="0">
                <a:solidFill>
                  <a:srgbClr val="1A1A2E"/>
                </a:solidFill>
                <a:latin typeface="Calibri"/>
                <a:ea typeface="Calibri"/>
                <a:cs typeface="Calibri"/>
              </a:rPr>
              <a:t>Record packet loss, latency, and communication errors.</a:t>
            </a:r>
            <a:endParaRPr sz="1450" dirty="0"/>
          </a:p>
        </p:txBody>
      </p:sp>
      <p:sp>
        <p:nvSpPr>
          <p:cNvPr id="9" name="Text 6">
            <a:extLst>
              <a:ext uri="{FF2B5EF4-FFF2-40B4-BE49-F238E27FC236}">
                <a16:creationId xmlns:a16="http://schemas.microsoft.com/office/drawing/2014/main" id="{5125374E-01FD-4FEF-9B5F-379ECD81A8EF}"/>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4</a:t>
            </a:r>
            <a:endParaRPr sz="1100"/>
          </a:p>
        </p:txBody>
      </p:sp>
    </p:spTree>
    <p:extLst>
      <p:ext uri="{BB962C8B-B14F-4D97-AF65-F5344CB8AC3E}">
        <p14:creationId xmlns:p14="http://schemas.microsoft.com/office/powerpoint/2010/main" val="20044480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12DAA473-E1E4-45AB-AA12-5D582CF15A95}"/>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319DB19B-D41E-4B4C-9DE4-E7FFC3CF0C70}"/>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MOTIVATION</a:t>
            </a:r>
            <a:endParaRPr sz="3000"/>
          </a:p>
        </p:txBody>
      </p:sp>
      <p:sp>
        <p:nvSpPr>
          <p:cNvPr id="5" name="Text 2">
            <a:extLst>
              <a:ext uri="{FF2B5EF4-FFF2-40B4-BE49-F238E27FC236}">
                <a16:creationId xmlns:a16="http://schemas.microsoft.com/office/drawing/2014/main" id="{FDFA76FF-E0F7-4724-9022-F8FC38DE830B}"/>
              </a:ext>
            </a:extLst>
          </p:cNvPr>
          <p:cNvSpPr>
            <a:spLocks noGrp="1"/>
          </p:cNvSpPr>
          <p:nvPr/>
        </p:nvSpPr>
        <p:spPr>
          <a:xfrm>
            <a:off x="731520" y="1508760"/>
            <a:ext cx="10698480" cy="4572000"/>
          </a:xfrm>
          <a:prstGeom prst="rect">
            <a:avLst/>
          </a:prstGeom>
          <a:noFill/>
        </p:spPr>
        <p:txBody>
          <a:bodyPr wrap="square" anchor="t"/>
          <a:lstStyle/>
          <a:p>
            <a:pPr marL="228600" indent="-228600">
              <a:spcAft>
                <a:spcPts val="1600"/>
              </a:spcAft>
              <a:buSzPct val="100000"/>
              <a:buChar char="●"/>
            </a:pPr>
            <a:r>
              <a:rPr sz="1600">
                <a:solidFill>
                  <a:srgbClr val="1A1A2E"/>
                </a:solidFill>
                <a:latin typeface="Calibri"/>
                <a:ea typeface="Calibri"/>
                <a:cs typeface="Calibri"/>
              </a:rPr>
              <a:t>A signal may look correct at one test point yet become unreliable elsewhere due to distance, electromagnetic interference, obstacles, poor wiring, or timing issues — a limitation of any fixed-point logic analyzer.</a:t>
            </a:r>
            <a:endParaRPr sz="1600"/>
          </a:p>
          <a:p>
            <a:pPr marL="228600" indent="-228600">
              <a:spcAft>
                <a:spcPts val="1600"/>
              </a:spcAft>
              <a:buSzPct val="100000"/>
              <a:buChar char="●"/>
            </a:pPr>
            <a:r>
              <a:rPr sz="1600">
                <a:solidFill>
                  <a:srgbClr val="1A1A2E"/>
                </a:solidFill>
                <a:latin typeface="Calibri"/>
                <a:ea typeface="Calibri"/>
                <a:cs typeface="Calibri"/>
              </a:rPr>
              <a:t>Communication faults in embedded and IoT systems are often location-dependent, and manual measurement is slow and produces inconsistent results since position must be recorded separately.</a:t>
            </a:r>
            <a:endParaRPr sz="1600"/>
          </a:p>
          <a:p>
            <a:pPr marL="228600" indent="-228600">
              <a:spcAft>
                <a:spcPts val="1600"/>
              </a:spcAft>
              <a:buSzPct val="100000"/>
              <a:buChar char="●"/>
            </a:pPr>
            <a:r>
              <a:rPr sz="1600">
                <a:solidFill>
                  <a:srgbClr val="1A1A2E"/>
                </a:solidFill>
                <a:latin typeface="Calibri"/>
                <a:ea typeface="Calibri"/>
                <a:cs typeface="Calibri"/>
              </a:rPr>
              <a:t>There is a need for a low-cost mobile system that can move autonomously, record its position, measure communication quality, and present the results as a visual spatial map.</a:t>
            </a:r>
            <a:endParaRPr sz="1600"/>
          </a:p>
          <a:p>
            <a:pPr marL="228600" indent="-228600">
              <a:spcAft>
                <a:spcPts val="1600"/>
              </a:spcAft>
              <a:buSzPct val="100000"/>
              <a:buChar char="●"/>
            </a:pPr>
            <a:r>
              <a:rPr sz="1600">
                <a:solidFill>
                  <a:srgbClr val="1A1A2E"/>
                </a:solidFill>
                <a:latin typeface="Calibri"/>
                <a:ea typeface="Calibri"/>
                <a:cs typeface="Calibri"/>
              </a:rPr>
              <a:t>The aim is an autonomous mobile STM32-based platform that combines digital logic analysis, wireless signal monitoring, and rover navigation to identify and map communication faults in a physical environment.</a:t>
            </a:r>
            <a:endParaRPr sz="1600"/>
          </a:p>
        </p:txBody>
      </p:sp>
      <p:sp>
        <p:nvSpPr>
          <p:cNvPr id="6" name="Text 3">
            <a:extLst>
              <a:ext uri="{FF2B5EF4-FFF2-40B4-BE49-F238E27FC236}">
                <a16:creationId xmlns:a16="http://schemas.microsoft.com/office/drawing/2014/main" id="{C2EEB7BF-5479-4DA5-8832-0A50542D53BB}"/>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5</a:t>
            </a:r>
            <a:endParaRPr sz="1100"/>
          </a:p>
        </p:txBody>
      </p:sp>
    </p:spTree>
    <p:extLst>
      <p:ext uri="{BB962C8B-B14F-4D97-AF65-F5344CB8AC3E}">
        <p14:creationId xmlns:p14="http://schemas.microsoft.com/office/powerpoint/2010/main" val="19757094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97960E16-29DF-4F4A-B01D-73F1F481EFEF}"/>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7FBA96A5-F595-488E-BA59-3AEF0A3B0CE3}"/>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LITERATURE SURVEY</a:t>
            </a:r>
            <a:endParaRPr sz="3000"/>
          </a:p>
        </p:txBody>
      </p:sp>
      <p:graphicFrame>
        <p:nvGraphicFramePr>
          <p:cNvPr id="12" name="Table 0"/>
          <p:cNvGraphicFramePr/>
          <p:nvPr/>
        </p:nvGraphicFramePr>
        <p:xfrm>
          <a:off x="365760" y="1417320"/>
          <a:ext cx="11430000" cy="4663440"/>
        </p:xfrm>
        <a:graphic>
          <a:graphicData uri="http://schemas.openxmlformats.org/drawingml/2006/table">
            <a:tbl>
              <a:tblPr/>
              <a:tblGrid>
                <a:gridCol w="548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212080">
                  <a:extLst>
                    <a:ext uri="{9D8B030D-6E8A-4147-A177-3AD203B41FA5}">
                      <a16:colId xmlns:a16="http://schemas.microsoft.com/office/drawing/2014/main" val="20004"/>
                    </a:ext>
                  </a:extLst>
                </a:gridCol>
              </a:tblGrid>
              <a:tr h="457200">
                <a:tc>
                  <a:txBody>
                    <a:bodyPr/>
                    <a:lstStyle/>
                    <a:p>
                      <a:pPr marL="0" indent="0" algn="ctr">
                        <a:buNone/>
                      </a:pPr>
                      <a:r>
                        <a:rPr sz="900" b="1">
                          <a:solidFill>
                            <a:srgbClr val="FFFFFF"/>
                          </a:solidFill>
                          <a:latin typeface="Calibri"/>
                          <a:ea typeface="Calibri"/>
                          <a:cs typeface="Calibri"/>
                        </a:rPr>
                        <a:t>Sl.no</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Title</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Author</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Year</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Content</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extLst>
                  <a:ext uri="{0D108BD9-81ED-4DB2-BD59-A6C34878D82A}">
                    <a16:rowId xmlns:a16="http://schemas.microsoft.com/office/drawing/2014/main" val="10000"/>
                  </a:ext>
                </a:extLst>
              </a:tr>
              <a:tr h="1051560">
                <a:tc>
                  <a:txBody>
                    <a:bodyPr/>
                    <a:lstStyle/>
                    <a:p>
                      <a:r>
                        <a:rPr sz="900"/>
                        <a:t>1</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WiFi Localization and Navigation for Autonomous Indoor Mobile Robots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J. Biswas, M. Veloso</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2010</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Uses Wi-Fi signal-strength maps with odometry for autonomous indoor robot localization and navigation; directly supports mobile spatial RSSI mapping.</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1"/>
                  </a:ext>
                </a:extLst>
              </a:tr>
              <a:tr h="1051560">
                <a:tc>
                  <a:txBody>
                    <a:bodyPr/>
                    <a:lstStyle/>
                    <a:p>
                      <a:r>
                        <a:rPr sz="900"/>
                        <a:t>2</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Range-only SLAM with a Mobile Robot and a Wireless Sensor Networks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E. Menegatti et al.</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2009</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Uses RSSI-derived range measurements with EKF-SLAM while a robot moves through a wireless sensor network; addresses noisy indoor radio measurements.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2"/>
                  </a:ext>
                </a:extLst>
              </a:tr>
              <a:tr h="1051560">
                <a:tc>
                  <a:txBody>
                    <a:bodyPr/>
                    <a:lstStyle/>
                    <a:p>
                      <a:r>
                        <a:rPr sz="900"/>
                        <a:t>3</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Autonomous Mobile Robot Localization Based on RSSI Measurements Using an RFID Sensor and Neural Network BPANN</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N. A. Sabto, K. Al Mutib</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2013</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Mounts an RFID receiver on a mobile robot and uses RSSI measurements with a neural network to estimate location from wireless landmarks.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3"/>
                  </a:ext>
                </a:extLst>
              </a:tr>
              <a:tr h="1051560">
                <a:tc>
                  <a:txBody>
                    <a:bodyPr/>
                    <a:lstStyle/>
                    <a:p>
                      <a:r>
                        <a:rPr sz="900"/>
                        <a:t>4</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RSSI-based Relative Localisation for Mobile Robots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L. Oliveira et al.</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2013</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Demonstrates relative localization and velocity estimation for mobile robots using RSSI exchanged between wireless nodes.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 2">
            <a:extLst>
              <a:ext uri="{FF2B5EF4-FFF2-40B4-BE49-F238E27FC236}">
                <a16:creationId xmlns:a16="http://schemas.microsoft.com/office/drawing/2014/main" id="{B6522AAC-2155-47D0-B72F-4C5A57DCE084}"/>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6</a:t>
            </a:r>
            <a:endParaRPr sz="1100"/>
          </a:p>
        </p:txBody>
      </p:sp>
    </p:spTree>
    <p:extLst>
      <p:ext uri="{BB962C8B-B14F-4D97-AF65-F5344CB8AC3E}">
        <p14:creationId xmlns:p14="http://schemas.microsoft.com/office/powerpoint/2010/main" val="72860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A936921B-5959-4BE8-951F-F362F437734F}"/>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96C95278-6589-4946-9742-432BAE22E8BF}"/>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LITERATURE SURVEY (contd.)</a:t>
            </a:r>
            <a:endParaRPr sz="3000"/>
          </a:p>
        </p:txBody>
      </p:sp>
      <p:graphicFrame>
        <p:nvGraphicFramePr>
          <p:cNvPr id="12" name="Table 0"/>
          <p:cNvGraphicFramePr/>
          <p:nvPr/>
        </p:nvGraphicFramePr>
        <p:xfrm>
          <a:off x="365760" y="1417320"/>
          <a:ext cx="11430000" cy="4663440"/>
        </p:xfrm>
        <a:graphic>
          <a:graphicData uri="http://schemas.openxmlformats.org/drawingml/2006/table">
            <a:tbl>
              <a:tblPr/>
              <a:tblGrid>
                <a:gridCol w="54864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640080">
                  <a:extLst>
                    <a:ext uri="{9D8B030D-6E8A-4147-A177-3AD203B41FA5}">
                      <a16:colId xmlns:a16="http://schemas.microsoft.com/office/drawing/2014/main" val="20003"/>
                    </a:ext>
                  </a:extLst>
                </a:gridCol>
                <a:gridCol w="5212080">
                  <a:extLst>
                    <a:ext uri="{9D8B030D-6E8A-4147-A177-3AD203B41FA5}">
                      <a16:colId xmlns:a16="http://schemas.microsoft.com/office/drawing/2014/main" val="20004"/>
                    </a:ext>
                  </a:extLst>
                </a:gridCol>
              </a:tblGrid>
              <a:tr h="457200">
                <a:tc>
                  <a:txBody>
                    <a:bodyPr/>
                    <a:lstStyle/>
                    <a:p>
                      <a:pPr marL="0" indent="0" algn="ctr">
                        <a:buNone/>
                      </a:pPr>
                      <a:r>
                        <a:rPr sz="900" b="1">
                          <a:solidFill>
                            <a:srgbClr val="FFFFFF"/>
                          </a:solidFill>
                          <a:latin typeface="Calibri"/>
                          <a:ea typeface="Calibri"/>
                          <a:cs typeface="Calibri"/>
                        </a:rPr>
                        <a:t>Sl.no</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Title</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Author</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Year</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900" b="1">
                          <a:solidFill>
                            <a:srgbClr val="FFFFFF"/>
                          </a:solidFill>
                          <a:latin typeface="Calibri"/>
                          <a:ea typeface="Calibri"/>
                          <a:cs typeface="Calibri"/>
                        </a:rPr>
                        <a:t>Content</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extLst>
                  <a:ext uri="{0D108BD9-81ED-4DB2-BD59-A6C34878D82A}">
                    <a16:rowId xmlns:a16="http://schemas.microsoft.com/office/drawing/2014/main" val="10000"/>
                  </a:ext>
                </a:extLst>
              </a:tr>
              <a:tr h="1051560">
                <a:tc>
                  <a:txBody>
                    <a:bodyPr/>
                    <a:lstStyle/>
                    <a:p>
                      <a:r>
                        <a:rPr sz="900"/>
                        <a:t>5</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Particle Filter Design for Mobile Robot Localization Based on Received Signal Strength Indicator</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C.-C. Hsu, S.-S. Yeh, P.-L. Hsu</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2016</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Applies particle filtering to RSSI-based mobile-robot localization and studies errors caused by interference, reflections, and antenna orientation.</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1"/>
                  </a:ext>
                </a:extLst>
              </a:tr>
              <a:tr h="1051560">
                <a:tc>
                  <a:txBody>
                    <a:bodyPr/>
                    <a:lstStyle/>
                    <a:p>
                      <a:r>
                        <a:rPr sz="900"/>
                        <a:t>6</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Precise and Accurate Wireless Signal Strength Mappings Using Gaussian Processes and Path Loss Models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R. Miyagusuku, A. Yamashita, H. Asama</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2018</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Builds probabilistic wireless signal-strength maps for robot localization by combining path-loss models with Gaussian processes.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2"/>
                  </a:ext>
                </a:extLst>
              </a:tr>
              <a:tr h="1051560">
                <a:tc>
                  <a:txBody>
                    <a:bodyPr/>
                    <a:lstStyle/>
                    <a:p>
                      <a:r>
                        <a:rPr sz="900"/>
                        <a:t>7</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Comparing WiFi RSS Filtering for Wireless Robot Location System</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M. S. Rahman et al.</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2019</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r>
                        <a:rPr sz="900"/>
                        <a:t>Compares filtering approaches for noisy Wi-Fi RSS in real-time mobile-robot positioning, including Kalman filtering and weighted fusion.</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3"/>
                  </a:ext>
                </a:extLst>
              </a:tr>
              <a:tr h="1051560">
                <a:tc>
                  <a:txBody>
                    <a:bodyPr/>
                    <a:lstStyle/>
                    <a:p>
                      <a:r>
                        <a:rPr sz="900"/>
                        <a:t>8</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Model Predictive Control for Wireless Communication Reliability of Mobile Inspection Robots in Substations</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W. Sun et al.</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2026</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r>
                        <a:rPr sz="900"/>
                        <a:t>Studies how distance, obstacles and electromagnetic interference affect RSSI reliability for mobile inspection robots in an industrial environment.</a:t>
                      </a: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6" name="Text 2">
            <a:extLst>
              <a:ext uri="{FF2B5EF4-FFF2-40B4-BE49-F238E27FC236}">
                <a16:creationId xmlns:a16="http://schemas.microsoft.com/office/drawing/2014/main" id="{B2BC7F87-4E2C-4349-859B-EE90B4358BE3}"/>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7</a:t>
            </a:r>
            <a:endParaRPr sz="1100"/>
          </a:p>
        </p:txBody>
      </p:sp>
    </p:spTree>
    <p:extLst>
      <p:ext uri="{BB962C8B-B14F-4D97-AF65-F5344CB8AC3E}">
        <p14:creationId xmlns:p14="http://schemas.microsoft.com/office/powerpoint/2010/main" val="16498875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E676C262-E71B-4E86-8036-16DE4110D093}"/>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C70E52A7-344F-43BC-9D3A-0679F070A907}"/>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RESEARCH GAP</a:t>
            </a:r>
            <a:endParaRPr sz="3000"/>
          </a:p>
        </p:txBody>
      </p:sp>
      <p:sp>
        <p:nvSpPr>
          <p:cNvPr id="5" name="Shape 2">
            <a:extLst>
              <a:ext uri="{FF2B5EF4-FFF2-40B4-BE49-F238E27FC236}">
                <a16:creationId xmlns:a16="http://schemas.microsoft.com/office/drawing/2014/main" id="{CEFDA04C-111E-4600-ABC1-70B6602A1D11}"/>
              </a:ext>
            </a:extLst>
          </p:cNvPr>
          <p:cNvSpPr>
            <a:spLocks noGrp="1"/>
          </p:cNvSpPr>
          <p:nvPr/>
        </p:nvSpPr>
        <p:spPr>
          <a:xfrm>
            <a:off x="548640" y="1417320"/>
            <a:ext cx="5257800" cy="3520440"/>
          </a:xfrm>
          <a:prstGeom prst="roundRect">
            <a:avLst>
              <a:gd name="adj" fmla="val 1569"/>
            </a:avLst>
          </a:prstGeom>
          <a:solidFill>
            <a:srgbClr val="F4F6FC"/>
          </a:solidFill>
        </p:spPr>
        <p:txBody>
          <a:bodyPr/>
          <a:lstStyle/>
          <a:p>
            <a:endParaRPr lang="en-US"/>
          </a:p>
        </p:txBody>
      </p:sp>
      <p:sp>
        <p:nvSpPr>
          <p:cNvPr id="6" name="Shape 3">
            <a:extLst>
              <a:ext uri="{FF2B5EF4-FFF2-40B4-BE49-F238E27FC236}">
                <a16:creationId xmlns:a16="http://schemas.microsoft.com/office/drawing/2014/main" id="{515A98AA-4F70-42B1-AA22-5F4BF20CF4B3}"/>
              </a:ext>
            </a:extLst>
          </p:cNvPr>
          <p:cNvSpPr>
            <a:spLocks noGrp="1"/>
          </p:cNvSpPr>
          <p:nvPr/>
        </p:nvSpPr>
        <p:spPr>
          <a:xfrm>
            <a:off x="6400800" y="1417320"/>
            <a:ext cx="5239512" cy="3520440"/>
          </a:xfrm>
          <a:prstGeom prst="roundRect">
            <a:avLst>
              <a:gd name="adj" fmla="val 1569"/>
            </a:avLst>
          </a:prstGeom>
          <a:solidFill>
            <a:srgbClr val="F4F6FC"/>
          </a:solidFill>
          <a:ln w="15875">
            <a:solidFill>
              <a:srgbClr val="3D5AFE"/>
            </a:solidFill>
          </a:ln>
        </p:spPr>
        <p:txBody>
          <a:bodyPr/>
          <a:lstStyle/>
          <a:p>
            <a:endParaRPr lang="en-US"/>
          </a:p>
        </p:txBody>
      </p:sp>
      <p:sp>
        <p:nvSpPr>
          <p:cNvPr id="9" name="Text 6">
            <a:extLst>
              <a:ext uri="{FF2B5EF4-FFF2-40B4-BE49-F238E27FC236}">
                <a16:creationId xmlns:a16="http://schemas.microsoft.com/office/drawing/2014/main" id="{96AED765-80F3-4B16-9D7C-7A5FD34962F6}"/>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8</a:t>
            </a:r>
            <a:endParaRPr sz="1100"/>
          </a:p>
        </p:txBody>
      </p:sp>
      <p:sp>
        <p:nvSpPr>
          <p:cNvPr id="10" name="TextBox 9">
            <a:extLst>
              <a:ext uri="{FF2B5EF4-FFF2-40B4-BE49-F238E27FC236}">
                <a16:creationId xmlns:a16="http://schemas.microsoft.com/office/drawing/2014/main" id="{A8D24352-00DF-472A-ACE9-A4633A8EC94B}"/>
              </a:ext>
            </a:extLst>
          </p:cNvPr>
          <p:cNvSpPr>
            <a:spLocks noGrp="1"/>
          </p:cNvSpPr>
          <p:nvPr/>
        </p:nvSpPr>
        <p:spPr>
          <a:xfrm>
            <a:off x="822959" y="1627632"/>
            <a:ext cx="4709160" cy="384048"/>
          </a:xfrm>
          <a:prstGeom prst="rect">
            <a:avLst/>
          </a:prstGeom>
          <a:noFill/>
        </p:spPr>
        <p:txBody>
          <a:bodyPr wrap="square" lIns="0" tIns="0" rIns="0" bIns="0" anchor="ctr">
            <a:noAutofit/>
          </a:bodyPr>
          <a:lstStyle/>
          <a:p>
            <a:pPr marL="0" indent="0" algn="l">
              <a:buNone/>
            </a:pPr>
            <a:r>
              <a:rPr sz="1800" b="1" i="0">
                <a:solidFill>
                  <a:srgbClr val="1E2761"/>
                </a:solidFill>
                <a:latin typeface="Calibri"/>
                <a:ea typeface="Calibri"/>
                <a:cs typeface="Calibri"/>
              </a:rPr>
              <a:t>What the surveyed work provides</a:t>
            </a:r>
          </a:p>
        </p:txBody>
      </p:sp>
      <p:sp>
        <p:nvSpPr>
          <p:cNvPr id="11" name="TextBox 10">
            <a:extLst>
              <a:ext uri="{FF2B5EF4-FFF2-40B4-BE49-F238E27FC236}">
                <a16:creationId xmlns:a16="http://schemas.microsoft.com/office/drawing/2014/main" id="{B5FD8C8E-6E71-4B03-986D-F4CCC7DD23C2}"/>
              </a:ext>
            </a:extLst>
          </p:cNvPr>
          <p:cNvSpPr>
            <a:spLocks noGrp="1"/>
          </p:cNvSpPr>
          <p:nvPr/>
        </p:nvSpPr>
        <p:spPr>
          <a:xfrm>
            <a:off x="822959" y="2148840"/>
            <a:ext cx="4709160" cy="2651760"/>
          </a:xfrm>
          <a:prstGeom prst="rect">
            <a:avLst/>
          </a:prstGeom>
          <a:noFill/>
        </p:spPr>
        <p:txBody>
          <a:bodyPr wrap="square" lIns="0" tIns="0" rIns="0" bIns="0" anchor="t">
            <a:noAutofit/>
          </a:bodyPr>
          <a:lstStyle/>
          <a:p>
            <a:r>
              <a:t>[1]–[5]  Mobile-robot studies use RSSI/Wi-Fi/RFID for localization and navigation.</a:t>
            </a:r>
          </a:p>
          <a:p>
            <a:r>
              <a:t>[6], [7]  Signal-map modeling and filtering improve noisy RSS/RSSI measurements.</a:t>
            </a:r>
          </a:p>
          <a:p>
            <a:r>
              <a:t>[8]  Industrial mobile robots face communication variation from distance, obstacles and electromagnetic interference.</a:t>
            </a:r>
          </a:p>
          <a:p>
            <a:r>
              <a:t>Prior work focuses mainly on localization, navigation, or wireless-link reliability—not onboard digital protocol diagnosis.</a:t>
            </a:r>
          </a:p>
        </p:txBody>
      </p:sp>
      <p:sp>
        <p:nvSpPr>
          <p:cNvPr id="12" name="TextBox 11">
            <a:extLst>
              <a:ext uri="{FF2B5EF4-FFF2-40B4-BE49-F238E27FC236}">
                <a16:creationId xmlns:a16="http://schemas.microsoft.com/office/drawing/2014/main" id="{B21E6F77-EC52-400F-B03A-4F9E30C091D0}"/>
              </a:ext>
            </a:extLst>
          </p:cNvPr>
          <p:cNvSpPr>
            <a:spLocks noGrp="1"/>
          </p:cNvSpPr>
          <p:nvPr/>
        </p:nvSpPr>
        <p:spPr>
          <a:xfrm>
            <a:off x="6675120" y="1627632"/>
            <a:ext cx="4690872" cy="384048"/>
          </a:xfrm>
          <a:prstGeom prst="rect">
            <a:avLst/>
          </a:prstGeom>
          <a:noFill/>
        </p:spPr>
        <p:txBody>
          <a:bodyPr wrap="square" lIns="0" tIns="0" rIns="0" bIns="0" anchor="ctr">
            <a:noAutofit/>
          </a:bodyPr>
          <a:lstStyle/>
          <a:p>
            <a:pPr marL="0" indent="0" algn="l">
              <a:buNone/>
            </a:pPr>
            <a:r>
              <a:rPr sz="1800" b="1" i="0">
                <a:solidFill>
                  <a:srgbClr val="1E2761"/>
                </a:solidFill>
                <a:latin typeface="Calibri"/>
                <a:ea typeface="Calibri"/>
                <a:cs typeface="Calibri"/>
              </a:rPr>
              <a:t>Gap this project addresses</a:t>
            </a:r>
          </a:p>
        </p:txBody>
      </p:sp>
      <p:sp>
        <p:nvSpPr>
          <p:cNvPr id="13" name="TextBox 12">
            <a:extLst>
              <a:ext uri="{FF2B5EF4-FFF2-40B4-BE49-F238E27FC236}">
                <a16:creationId xmlns:a16="http://schemas.microsoft.com/office/drawing/2014/main" id="{9E24CA55-89FE-4D85-9617-543D5058D190}"/>
              </a:ext>
            </a:extLst>
          </p:cNvPr>
          <p:cNvSpPr>
            <a:spLocks noGrp="1"/>
          </p:cNvSpPr>
          <p:nvPr/>
        </p:nvSpPr>
        <p:spPr>
          <a:xfrm>
            <a:off x="6675120" y="2148840"/>
            <a:ext cx="4690872" cy="2651760"/>
          </a:xfrm>
          <a:prstGeom prst="rect">
            <a:avLst/>
          </a:prstGeom>
          <a:noFill/>
        </p:spPr>
        <p:txBody>
          <a:bodyPr wrap="square" lIns="0" tIns="0" rIns="0" bIns="0" anchor="t">
            <a:noAutofit/>
          </a:bodyPr>
          <a:lstStyle/>
          <a:p>
            <a:r>
              <a:t>No low-cost mobile platform combines digital logic capture with spatial wireless-link measurements</a:t>
            </a:r>
          </a:p>
          <a:p>
            <a:r>
              <a:t>Digital protocol faults and wireless quality are rarely logged together at the same physical coordinates</a:t>
            </a:r>
          </a:p>
          <a:p>
            <a:r>
              <a:t>Existing RSSI mapping work does not localize UART/GPIO/PWM timing or framing faults</a:t>
            </a:r>
          </a:p>
          <a:p>
            <a:r>
              <a:t>Opportunity for adaptive re-scanning of weak-signal or high-error zones</a:t>
            </a:r>
          </a:p>
        </p:txBody>
      </p:sp>
      <p:sp>
        <p:nvSpPr>
          <p:cNvPr id="14" name="Right Arrow 13">
            <a:extLst>
              <a:ext uri="{FF2B5EF4-FFF2-40B4-BE49-F238E27FC236}">
                <a16:creationId xmlns:a16="http://schemas.microsoft.com/office/drawing/2014/main" id="{D6C7B613-920C-44BE-9DC3-F4C3FFC2D867}"/>
              </a:ext>
            </a:extLst>
          </p:cNvPr>
          <p:cNvSpPr>
            <a:spLocks noGrp="1"/>
          </p:cNvSpPr>
          <p:nvPr/>
        </p:nvSpPr>
        <p:spPr>
          <a:xfrm>
            <a:off x="5879592" y="2898648"/>
            <a:ext cx="457200" cy="548640"/>
          </a:xfrm>
          <a:prstGeom prst="rightArrow">
            <a:avLst/>
          </a:prstGeom>
          <a:solidFill>
            <a:srgbClr val="3D5AFE"/>
          </a:solidFill>
          <a:ln>
            <a:noFill/>
          </a:ln>
        </p:spPr>
        <p:txBody>
          <a:bodyPr wrap="square" anchor="ctr">
            <a:noAutofit/>
          </a:bodyPr>
          <a:lstStyle/>
          <a:p>
            <a:pPr algn="ctr">
              <a:buNone/>
            </a:pPr>
            <a:endParaRPr/>
          </a:p>
        </p:txBody>
      </p:sp>
      <p:sp>
        <p:nvSpPr>
          <p:cNvPr id="15" name="Rounded Rectangle 14">
            <a:extLst>
              <a:ext uri="{FF2B5EF4-FFF2-40B4-BE49-F238E27FC236}">
                <a16:creationId xmlns:a16="http://schemas.microsoft.com/office/drawing/2014/main" id="{D8DEEB82-3097-4C29-B674-95B66C2CA336}"/>
              </a:ext>
            </a:extLst>
          </p:cNvPr>
          <p:cNvSpPr>
            <a:spLocks noGrp="1"/>
          </p:cNvSpPr>
          <p:nvPr/>
        </p:nvSpPr>
        <p:spPr>
          <a:xfrm>
            <a:off x="548640" y="5166360"/>
            <a:ext cx="11091672" cy="960120"/>
          </a:xfrm>
          <a:prstGeom prst="roundRect">
            <a:avLst>
              <a:gd name="adj" fmla="val 6000"/>
            </a:avLst>
          </a:prstGeom>
          <a:solidFill>
            <a:srgbClr val="1E2761"/>
          </a:solidFill>
          <a:ln>
            <a:noFill/>
          </a:ln>
        </p:spPr>
        <p:txBody>
          <a:bodyPr wrap="square" lIns="274320" tIns="73152" rIns="274320" bIns="73152" anchor="ctr">
            <a:noAutofit/>
          </a:bodyPr>
          <a:lstStyle/>
          <a:p>
            <a:pPr marL="0" indent="0" algn="l">
              <a:buNone/>
            </a:pPr>
            <a:r>
              <a:rPr sz="1400" b="1" i="0">
                <a:solidFill>
                  <a:srgbClr val="FFFFFF"/>
                </a:solidFill>
                <a:latin typeface="Calibri"/>
                <a:ea typeface="Calibri"/>
                <a:cs typeface="Calibri"/>
              </a:rPr>
              <a:t>Problem statement:  </a:t>
            </a:r>
            <a:r>
              <a:rPr sz="1400" b="0" i="0">
                <a:solidFill>
                  <a:srgbClr val="FFFFFF"/>
                </a:solidFill>
                <a:latin typeface="Calibri"/>
                <a:ea typeface="Calibri"/>
                <a:cs typeface="Calibri"/>
              </a:rPr>
              <a:t>no low-cost setup today shows where in a space a digital or wireless link starts to fail. This project puts an STM32 logic analyzer and an ESP32 link monitor on an autonomous rover and maps every position-tagged measurement.</a:t>
            </a:r>
          </a:p>
        </p:txBody>
      </p:sp>
    </p:spTree>
    <p:extLst>
      <p:ext uri="{BB962C8B-B14F-4D97-AF65-F5344CB8AC3E}">
        <p14:creationId xmlns:p14="http://schemas.microsoft.com/office/powerpoint/2010/main" val="2106965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EDD1E93B-AFE1-43EE-8C2F-0F93BA434C5E}"/>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0F5B5073-08C1-4970-8D8F-ED5FFE752C5D}"/>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PROPOSED SYSTEM</a:t>
            </a:r>
            <a:endParaRPr sz="3000"/>
          </a:p>
        </p:txBody>
      </p:sp>
      <p:sp>
        <p:nvSpPr>
          <p:cNvPr id="5" name="Shape 2">
            <a:extLst>
              <a:ext uri="{FF2B5EF4-FFF2-40B4-BE49-F238E27FC236}">
                <a16:creationId xmlns:a16="http://schemas.microsoft.com/office/drawing/2014/main" id="{8740DFAA-84B3-42AE-99DD-2EACFE35B138}"/>
              </a:ext>
            </a:extLst>
          </p:cNvPr>
          <p:cNvSpPr>
            <a:spLocks noGrp="1"/>
          </p:cNvSpPr>
          <p:nvPr/>
        </p:nvSpPr>
        <p:spPr>
          <a:xfrm>
            <a:off x="502920" y="1417320"/>
            <a:ext cx="2651760" cy="3246120"/>
          </a:xfrm>
          <a:prstGeom prst="roundRect">
            <a:avLst>
              <a:gd name="adj" fmla="val 3404"/>
            </a:avLst>
          </a:prstGeom>
          <a:solidFill>
            <a:srgbClr val="F4F6FC"/>
          </a:solidFill>
        </p:spPr>
        <p:txBody>
          <a:bodyPr/>
          <a:lstStyle/>
          <a:p>
            <a:endParaRPr lang="en-US"/>
          </a:p>
        </p:txBody>
      </p:sp>
      <p:sp>
        <p:nvSpPr>
          <p:cNvPr id="6" name="Shape 3">
            <a:extLst>
              <a:ext uri="{FF2B5EF4-FFF2-40B4-BE49-F238E27FC236}">
                <a16:creationId xmlns:a16="http://schemas.microsoft.com/office/drawing/2014/main" id="{AA33FCD8-E941-41D2-809A-03FA266B6CAC}"/>
              </a:ext>
            </a:extLst>
          </p:cNvPr>
          <p:cNvSpPr>
            <a:spLocks noGrp="1"/>
          </p:cNvSpPr>
          <p:nvPr/>
        </p:nvSpPr>
        <p:spPr>
          <a:xfrm>
            <a:off x="1600200" y="1581912"/>
            <a:ext cx="457200" cy="457200"/>
          </a:xfrm>
          <a:prstGeom prst="ellipse">
            <a:avLst/>
          </a:prstGeom>
          <a:solidFill>
            <a:srgbClr val="3D5AFE"/>
          </a:solidFill>
        </p:spPr>
        <p:txBody>
          <a:bodyPr/>
          <a:lstStyle/>
          <a:p>
            <a:endParaRPr lang="en-US"/>
          </a:p>
        </p:txBody>
      </p:sp>
      <p:sp>
        <p:nvSpPr>
          <p:cNvPr id="7" name="Text 4">
            <a:extLst>
              <a:ext uri="{FF2B5EF4-FFF2-40B4-BE49-F238E27FC236}">
                <a16:creationId xmlns:a16="http://schemas.microsoft.com/office/drawing/2014/main" id="{C2F5A351-ACEC-46A8-B260-9EC67C627A9F}"/>
              </a:ext>
            </a:extLst>
          </p:cNvPr>
          <p:cNvSpPr>
            <a:spLocks noGrp="1"/>
          </p:cNvSpPr>
          <p:nvPr/>
        </p:nvSpPr>
        <p:spPr>
          <a:xfrm>
            <a:off x="1600200" y="1581912"/>
            <a:ext cx="457200" cy="457200"/>
          </a:xfrm>
          <a:prstGeom prst="rect">
            <a:avLst/>
          </a:prstGeom>
          <a:noFill/>
        </p:spPr>
        <p:txBody>
          <a:bodyPr wrap="square" anchor="ctr"/>
          <a:lstStyle/>
          <a:p>
            <a:pPr marL="0" indent="0" algn="ctr">
              <a:buNone/>
            </a:pPr>
            <a:r>
              <a:rPr sz="1600" b="1">
                <a:solidFill>
                  <a:srgbClr val="FFFFFF"/>
                </a:solidFill>
                <a:latin typeface="Calibri"/>
                <a:ea typeface="Calibri"/>
                <a:cs typeface="Calibri"/>
              </a:rPr>
              <a:t>1</a:t>
            </a:r>
            <a:endParaRPr sz="1600"/>
          </a:p>
        </p:txBody>
      </p:sp>
      <p:sp>
        <p:nvSpPr>
          <p:cNvPr id="8" name="Text 5">
            <a:extLst>
              <a:ext uri="{FF2B5EF4-FFF2-40B4-BE49-F238E27FC236}">
                <a16:creationId xmlns:a16="http://schemas.microsoft.com/office/drawing/2014/main" id="{27B6959E-2D05-4510-A73B-C7ED4F231D88}"/>
              </a:ext>
            </a:extLst>
          </p:cNvPr>
          <p:cNvSpPr>
            <a:spLocks noGrp="1"/>
          </p:cNvSpPr>
          <p:nvPr/>
        </p:nvSpPr>
        <p:spPr>
          <a:xfrm>
            <a:off x="594360" y="2130552"/>
            <a:ext cx="2468880" cy="457200"/>
          </a:xfrm>
          <a:prstGeom prst="rect">
            <a:avLst/>
          </a:prstGeom>
          <a:noFill/>
        </p:spPr>
        <p:txBody>
          <a:bodyPr wrap="square" anchor="ctr"/>
          <a:lstStyle/>
          <a:p>
            <a:pPr marL="0" indent="0" algn="ctr">
              <a:buNone/>
            </a:pPr>
            <a:r>
              <a:rPr sz="1350" b="1">
                <a:solidFill>
                  <a:srgbClr val="1E2761"/>
                </a:solidFill>
                <a:latin typeface="Calibri"/>
                <a:ea typeface="Calibri"/>
                <a:cs typeface="Calibri"/>
              </a:rPr>
              <a:t>Autonomous Rover</a:t>
            </a:r>
            <a:endParaRPr sz="1350"/>
          </a:p>
        </p:txBody>
      </p:sp>
      <p:sp>
        <p:nvSpPr>
          <p:cNvPr id="9" name="Text 6">
            <a:extLst>
              <a:ext uri="{FF2B5EF4-FFF2-40B4-BE49-F238E27FC236}">
                <a16:creationId xmlns:a16="http://schemas.microsoft.com/office/drawing/2014/main" id="{DB311568-827B-4E31-BC14-D3DC05CBA98D}"/>
              </a:ext>
            </a:extLst>
          </p:cNvPr>
          <p:cNvSpPr>
            <a:spLocks noGrp="1"/>
          </p:cNvSpPr>
          <p:nvPr/>
        </p:nvSpPr>
        <p:spPr>
          <a:xfrm>
            <a:off x="640080" y="2587752"/>
            <a:ext cx="2377440" cy="1965960"/>
          </a:xfrm>
          <a:prstGeom prst="rect">
            <a:avLst/>
          </a:prstGeom>
          <a:noFill/>
        </p:spPr>
        <p:txBody>
          <a:bodyPr wrap="square" anchor="t"/>
          <a:lstStyle/>
          <a:p>
            <a:pPr marL="146304" indent="-146304" algn="l">
              <a:buClr>
                <a:srgbClr val="3D5AFE"/>
              </a:buClr>
              <a:buFont typeface="Arial"/>
              <a:buChar char="•"/>
            </a:pPr>
            <a:r>
              <a:rPr sz="1100" b="0" i="0">
                <a:solidFill>
                  <a:srgbClr val="1A1A2E"/>
                </a:solidFill>
                <a:latin typeface="Calibri"/>
                <a:ea typeface="Calibri"/>
                <a:cs typeface="Calibri"/>
              </a:rPr>
              <a:t>Differential-drive chassis with geared DC motors</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TB6612FNG driver controlled by STM32 PWM</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Wheel encoders + MPU6050 IMU for odometry and heading</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HC-SR04 ultrasonic sensors for obstacle avoidance</a:t>
            </a:r>
          </a:p>
        </p:txBody>
      </p:sp>
      <p:sp>
        <p:nvSpPr>
          <p:cNvPr id="10" name="Shape 7">
            <a:extLst>
              <a:ext uri="{FF2B5EF4-FFF2-40B4-BE49-F238E27FC236}">
                <a16:creationId xmlns:a16="http://schemas.microsoft.com/office/drawing/2014/main" id="{DAA20EC7-9467-4600-AC6E-852D62F6FD8B}"/>
              </a:ext>
            </a:extLst>
          </p:cNvPr>
          <p:cNvSpPr>
            <a:spLocks noGrp="1"/>
          </p:cNvSpPr>
          <p:nvPr/>
        </p:nvSpPr>
        <p:spPr>
          <a:xfrm>
            <a:off x="3291840" y="1417320"/>
            <a:ext cx="2651760" cy="3246120"/>
          </a:xfrm>
          <a:prstGeom prst="roundRect">
            <a:avLst>
              <a:gd name="adj" fmla="val 3404"/>
            </a:avLst>
          </a:prstGeom>
          <a:solidFill>
            <a:srgbClr val="F4F6FC"/>
          </a:solidFill>
        </p:spPr>
        <p:txBody>
          <a:bodyPr/>
          <a:lstStyle/>
          <a:p>
            <a:endParaRPr lang="en-US"/>
          </a:p>
        </p:txBody>
      </p:sp>
      <p:sp>
        <p:nvSpPr>
          <p:cNvPr id="11" name="Shape 8">
            <a:extLst>
              <a:ext uri="{FF2B5EF4-FFF2-40B4-BE49-F238E27FC236}">
                <a16:creationId xmlns:a16="http://schemas.microsoft.com/office/drawing/2014/main" id="{AE563636-F74B-457B-9B15-86465D8ECDC3}"/>
              </a:ext>
            </a:extLst>
          </p:cNvPr>
          <p:cNvSpPr>
            <a:spLocks noGrp="1"/>
          </p:cNvSpPr>
          <p:nvPr/>
        </p:nvSpPr>
        <p:spPr>
          <a:xfrm>
            <a:off x="4389120" y="1581912"/>
            <a:ext cx="457200" cy="457200"/>
          </a:xfrm>
          <a:prstGeom prst="ellipse">
            <a:avLst/>
          </a:prstGeom>
          <a:solidFill>
            <a:srgbClr val="3D5AFE"/>
          </a:solidFill>
        </p:spPr>
        <p:txBody>
          <a:bodyPr/>
          <a:lstStyle/>
          <a:p>
            <a:endParaRPr lang="en-US"/>
          </a:p>
        </p:txBody>
      </p:sp>
      <p:sp>
        <p:nvSpPr>
          <p:cNvPr id="12" name="Text 9">
            <a:extLst>
              <a:ext uri="{FF2B5EF4-FFF2-40B4-BE49-F238E27FC236}">
                <a16:creationId xmlns:a16="http://schemas.microsoft.com/office/drawing/2014/main" id="{002CDD4C-CF17-4C66-874F-0C129E2AEA4C}"/>
              </a:ext>
            </a:extLst>
          </p:cNvPr>
          <p:cNvSpPr>
            <a:spLocks noGrp="1"/>
          </p:cNvSpPr>
          <p:nvPr/>
        </p:nvSpPr>
        <p:spPr>
          <a:xfrm>
            <a:off x="4389120" y="1581912"/>
            <a:ext cx="457200" cy="457200"/>
          </a:xfrm>
          <a:prstGeom prst="rect">
            <a:avLst/>
          </a:prstGeom>
          <a:noFill/>
        </p:spPr>
        <p:txBody>
          <a:bodyPr wrap="square" anchor="ctr"/>
          <a:lstStyle/>
          <a:p>
            <a:pPr marL="0" indent="0" algn="ctr">
              <a:buNone/>
            </a:pPr>
            <a:r>
              <a:rPr sz="1600" b="1">
                <a:solidFill>
                  <a:srgbClr val="FFFFFF"/>
                </a:solidFill>
                <a:latin typeface="Calibri"/>
                <a:ea typeface="Calibri"/>
                <a:cs typeface="Calibri"/>
              </a:rPr>
              <a:t>2</a:t>
            </a:r>
            <a:endParaRPr sz="1600"/>
          </a:p>
        </p:txBody>
      </p:sp>
      <p:sp>
        <p:nvSpPr>
          <p:cNvPr id="13" name="Text 10">
            <a:extLst>
              <a:ext uri="{FF2B5EF4-FFF2-40B4-BE49-F238E27FC236}">
                <a16:creationId xmlns:a16="http://schemas.microsoft.com/office/drawing/2014/main" id="{ACAD4BF7-9CA0-40A9-9FDF-C6764EFE468C}"/>
              </a:ext>
            </a:extLst>
          </p:cNvPr>
          <p:cNvSpPr>
            <a:spLocks noGrp="1"/>
          </p:cNvSpPr>
          <p:nvPr/>
        </p:nvSpPr>
        <p:spPr>
          <a:xfrm>
            <a:off x="3383280" y="2130552"/>
            <a:ext cx="2468880" cy="457200"/>
          </a:xfrm>
          <a:prstGeom prst="rect">
            <a:avLst/>
          </a:prstGeom>
          <a:noFill/>
        </p:spPr>
        <p:txBody>
          <a:bodyPr wrap="square" anchor="ctr"/>
          <a:lstStyle/>
          <a:p>
            <a:pPr marL="0" indent="0" algn="ctr">
              <a:buNone/>
            </a:pPr>
            <a:r>
              <a:rPr sz="1350" b="1">
                <a:solidFill>
                  <a:srgbClr val="1E2761"/>
                </a:solidFill>
                <a:latin typeface="Calibri"/>
                <a:ea typeface="Calibri"/>
                <a:cs typeface="Calibri"/>
              </a:rPr>
              <a:t>Digital Signal Analysis</a:t>
            </a:r>
            <a:endParaRPr sz="1350"/>
          </a:p>
        </p:txBody>
      </p:sp>
      <p:sp>
        <p:nvSpPr>
          <p:cNvPr id="14" name="Text 11">
            <a:extLst>
              <a:ext uri="{FF2B5EF4-FFF2-40B4-BE49-F238E27FC236}">
                <a16:creationId xmlns:a16="http://schemas.microsoft.com/office/drawing/2014/main" id="{ADDE6E7B-9C18-41F9-98B2-21A1E9A9AA22}"/>
              </a:ext>
            </a:extLst>
          </p:cNvPr>
          <p:cNvSpPr>
            <a:spLocks noGrp="1"/>
          </p:cNvSpPr>
          <p:nvPr/>
        </p:nvSpPr>
        <p:spPr>
          <a:xfrm>
            <a:off x="3429000" y="2587752"/>
            <a:ext cx="2377440" cy="1965960"/>
          </a:xfrm>
          <a:prstGeom prst="rect">
            <a:avLst/>
          </a:prstGeom>
          <a:noFill/>
        </p:spPr>
        <p:txBody>
          <a:bodyPr wrap="square" anchor="t"/>
          <a:lstStyle/>
          <a:p>
            <a:pPr marL="146304" indent="-146304" algn="l">
              <a:buClr>
                <a:srgbClr val="3D5AFE"/>
              </a:buClr>
              <a:buFont typeface="Arial"/>
              <a:buChar char="•"/>
            </a:pPr>
            <a:r>
              <a:rPr sz="1100" b="0" i="0">
                <a:solidFill>
                  <a:srgbClr val="1A1A2E"/>
                </a:solidFill>
                <a:latin typeface="Calibri"/>
                <a:ea typeface="Calibri"/>
                <a:cs typeface="Calibri"/>
              </a:rPr>
              <a:t>STM32 samples GPIO lines using timer + DMA</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Edge / pattern trigger detection with buffered capture</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UART decoding with baud-rate and framing-error checks</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Duty-cycle and timing measurement of PWM signals</a:t>
            </a:r>
          </a:p>
        </p:txBody>
      </p:sp>
      <p:sp>
        <p:nvSpPr>
          <p:cNvPr id="15" name="Shape 12">
            <a:extLst>
              <a:ext uri="{FF2B5EF4-FFF2-40B4-BE49-F238E27FC236}">
                <a16:creationId xmlns:a16="http://schemas.microsoft.com/office/drawing/2014/main" id="{FED55073-1F04-4B12-BC71-FD11F5AD196A}"/>
              </a:ext>
            </a:extLst>
          </p:cNvPr>
          <p:cNvSpPr>
            <a:spLocks noGrp="1"/>
          </p:cNvSpPr>
          <p:nvPr/>
        </p:nvSpPr>
        <p:spPr>
          <a:xfrm>
            <a:off x="6080760" y="1417320"/>
            <a:ext cx="2651760" cy="3246120"/>
          </a:xfrm>
          <a:prstGeom prst="roundRect">
            <a:avLst>
              <a:gd name="adj" fmla="val 3404"/>
            </a:avLst>
          </a:prstGeom>
          <a:solidFill>
            <a:srgbClr val="F4F6FC"/>
          </a:solidFill>
        </p:spPr>
        <p:txBody>
          <a:bodyPr/>
          <a:lstStyle/>
          <a:p>
            <a:endParaRPr lang="en-US"/>
          </a:p>
        </p:txBody>
      </p:sp>
      <p:sp>
        <p:nvSpPr>
          <p:cNvPr id="16" name="Shape 13">
            <a:extLst>
              <a:ext uri="{FF2B5EF4-FFF2-40B4-BE49-F238E27FC236}">
                <a16:creationId xmlns:a16="http://schemas.microsoft.com/office/drawing/2014/main" id="{DA343F63-F128-408A-B37B-62C112ADFED1}"/>
              </a:ext>
            </a:extLst>
          </p:cNvPr>
          <p:cNvSpPr>
            <a:spLocks noGrp="1"/>
          </p:cNvSpPr>
          <p:nvPr/>
        </p:nvSpPr>
        <p:spPr>
          <a:xfrm>
            <a:off x="7178040" y="1581912"/>
            <a:ext cx="457200" cy="457200"/>
          </a:xfrm>
          <a:prstGeom prst="ellipse">
            <a:avLst/>
          </a:prstGeom>
          <a:solidFill>
            <a:srgbClr val="3D5AFE"/>
          </a:solidFill>
        </p:spPr>
        <p:txBody>
          <a:bodyPr/>
          <a:lstStyle/>
          <a:p>
            <a:endParaRPr lang="en-US"/>
          </a:p>
        </p:txBody>
      </p:sp>
      <p:sp>
        <p:nvSpPr>
          <p:cNvPr id="17" name="Text 14">
            <a:extLst>
              <a:ext uri="{FF2B5EF4-FFF2-40B4-BE49-F238E27FC236}">
                <a16:creationId xmlns:a16="http://schemas.microsoft.com/office/drawing/2014/main" id="{942A558A-BD3E-4DC6-889B-CA91879CC0D8}"/>
              </a:ext>
            </a:extLst>
          </p:cNvPr>
          <p:cNvSpPr>
            <a:spLocks noGrp="1"/>
          </p:cNvSpPr>
          <p:nvPr/>
        </p:nvSpPr>
        <p:spPr>
          <a:xfrm>
            <a:off x="7178040" y="1581912"/>
            <a:ext cx="457200" cy="457200"/>
          </a:xfrm>
          <a:prstGeom prst="rect">
            <a:avLst/>
          </a:prstGeom>
          <a:noFill/>
        </p:spPr>
        <p:txBody>
          <a:bodyPr wrap="square" anchor="ctr"/>
          <a:lstStyle/>
          <a:p>
            <a:pPr marL="0" indent="0" algn="ctr">
              <a:buNone/>
            </a:pPr>
            <a:r>
              <a:rPr sz="1600" b="1">
                <a:solidFill>
                  <a:srgbClr val="FFFFFF"/>
                </a:solidFill>
                <a:latin typeface="Calibri"/>
                <a:ea typeface="Calibri"/>
                <a:cs typeface="Calibri"/>
              </a:rPr>
              <a:t>3</a:t>
            </a:r>
            <a:endParaRPr sz="1600"/>
          </a:p>
        </p:txBody>
      </p:sp>
      <p:sp>
        <p:nvSpPr>
          <p:cNvPr id="18" name="Text 15">
            <a:extLst>
              <a:ext uri="{FF2B5EF4-FFF2-40B4-BE49-F238E27FC236}">
                <a16:creationId xmlns:a16="http://schemas.microsoft.com/office/drawing/2014/main" id="{651A5745-9149-416E-82DA-27AC00A2EFA2}"/>
              </a:ext>
            </a:extLst>
          </p:cNvPr>
          <p:cNvSpPr>
            <a:spLocks noGrp="1"/>
          </p:cNvSpPr>
          <p:nvPr/>
        </p:nvSpPr>
        <p:spPr>
          <a:xfrm>
            <a:off x="6172200" y="2130552"/>
            <a:ext cx="2468880" cy="457200"/>
          </a:xfrm>
          <a:prstGeom prst="rect">
            <a:avLst/>
          </a:prstGeom>
          <a:noFill/>
        </p:spPr>
        <p:txBody>
          <a:bodyPr wrap="square" anchor="ctr"/>
          <a:lstStyle/>
          <a:p>
            <a:pPr marL="0" indent="0" algn="ctr">
              <a:buNone/>
            </a:pPr>
            <a:r>
              <a:rPr sz="1350" b="1">
                <a:solidFill>
                  <a:srgbClr val="1E2761"/>
                </a:solidFill>
                <a:latin typeface="Calibri"/>
                <a:ea typeface="Calibri"/>
                <a:cs typeface="Calibri"/>
              </a:rPr>
              <a:t>Wireless Monitoring</a:t>
            </a:r>
            <a:endParaRPr sz="1350"/>
          </a:p>
        </p:txBody>
      </p:sp>
      <p:sp>
        <p:nvSpPr>
          <p:cNvPr id="19" name="Text 16">
            <a:extLst>
              <a:ext uri="{FF2B5EF4-FFF2-40B4-BE49-F238E27FC236}">
                <a16:creationId xmlns:a16="http://schemas.microsoft.com/office/drawing/2014/main" id="{E0362E33-F857-43F1-A18C-0710A0EB400E}"/>
              </a:ext>
            </a:extLst>
          </p:cNvPr>
          <p:cNvSpPr>
            <a:spLocks noGrp="1"/>
          </p:cNvSpPr>
          <p:nvPr/>
        </p:nvSpPr>
        <p:spPr>
          <a:xfrm>
            <a:off x="6217920" y="2587752"/>
            <a:ext cx="2377440" cy="1965960"/>
          </a:xfrm>
          <a:prstGeom prst="rect">
            <a:avLst/>
          </a:prstGeom>
          <a:noFill/>
        </p:spPr>
        <p:txBody>
          <a:bodyPr wrap="square" anchor="t"/>
          <a:lstStyle/>
          <a:p>
            <a:pPr marL="146304" indent="-146304" algn="l">
              <a:buClr>
                <a:srgbClr val="3D5AFE"/>
              </a:buClr>
              <a:buFont typeface="Arial"/>
              <a:buChar char="•"/>
            </a:pPr>
            <a:r>
              <a:rPr sz="1100" b="0" i="0">
                <a:solidFill>
                  <a:srgbClr val="1A1A2E"/>
                </a:solidFill>
                <a:latin typeface="Calibri"/>
                <a:ea typeface="Calibri"/>
                <a:cs typeface="Calibri"/>
              </a:rPr>
              <a:t>ESP32 reads Wi-Fi RSSI at every measurement point</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Test packets give packet success / loss and latency</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Connection stability logged over the whole scan</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Optional LoRa / Bluetooth link tests</a:t>
            </a:r>
          </a:p>
        </p:txBody>
      </p:sp>
      <p:sp>
        <p:nvSpPr>
          <p:cNvPr id="20" name="Shape 17">
            <a:extLst>
              <a:ext uri="{FF2B5EF4-FFF2-40B4-BE49-F238E27FC236}">
                <a16:creationId xmlns:a16="http://schemas.microsoft.com/office/drawing/2014/main" id="{7F0E8AB4-7359-49F7-82A3-8583766A69CE}"/>
              </a:ext>
            </a:extLst>
          </p:cNvPr>
          <p:cNvSpPr>
            <a:spLocks noGrp="1"/>
          </p:cNvSpPr>
          <p:nvPr/>
        </p:nvSpPr>
        <p:spPr>
          <a:xfrm>
            <a:off x="8869680" y="1417320"/>
            <a:ext cx="2651760" cy="3246120"/>
          </a:xfrm>
          <a:prstGeom prst="roundRect">
            <a:avLst>
              <a:gd name="adj" fmla="val 3404"/>
            </a:avLst>
          </a:prstGeom>
          <a:solidFill>
            <a:srgbClr val="F4F6FC"/>
          </a:solidFill>
        </p:spPr>
        <p:txBody>
          <a:bodyPr/>
          <a:lstStyle/>
          <a:p>
            <a:endParaRPr lang="en-US"/>
          </a:p>
        </p:txBody>
      </p:sp>
      <p:sp>
        <p:nvSpPr>
          <p:cNvPr id="21" name="Shape 18">
            <a:extLst>
              <a:ext uri="{FF2B5EF4-FFF2-40B4-BE49-F238E27FC236}">
                <a16:creationId xmlns:a16="http://schemas.microsoft.com/office/drawing/2014/main" id="{AA7F3F54-D5BD-4AC1-9BE7-643350E3411E}"/>
              </a:ext>
            </a:extLst>
          </p:cNvPr>
          <p:cNvSpPr>
            <a:spLocks noGrp="1"/>
          </p:cNvSpPr>
          <p:nvPr/>
        </p:nvSpPr>
        <p:spPr>
          <a:xfrm>
            <a:off x="9966960" y="1581912"/>
            <a:ext cx="457200" cy="457200"/>
          </a:xfrm>
          <a:prstGeom prst="ellipse">
            <a:avLst/>
          </a:prstGeom>
          <a:solidFill>
            <a:srgbClr val="3D5AFE"/>
          </a:solidFill>
        </p:spPr>
        <p:txBody>
          <a:bodyPr/>
          <a:lstStyle/>
          <a:p>
            <a:endParaRPr lang="en-US"/>
          </a:p>
        </p:txBody>
      </p:sp>
      <p:sp>
        <p:nvSpPr>
          <p:cNvPr id="22" name="Text 19">
            <a:extLst>
              <a:ext uri="{FF2B5EF4-FFF2-40B4-BE49-F238E27FC236}">
                <a16:creationId xmlns:a16="http://schemas.microsoft.com/office/drawing/2014/main" id="{D92BE64B-F067-4E95-AAAA-F447B635DDC7}"/>
              </a:ext>
            </a:extLst>
          </p:cNvPr>
          <p:cNvSpPr>
            <a:spLocks noGrp="1"/>
          </p:cNvSpPr>
          <p:nvPr/>
        </p:nvSpPr>
        <p:spPr>
          <a:xfrm>
            <a:off x="9966960" y="1581912"/>
            <a:ext cx="457200" cy="457200"/>
          </a:xfrm>
          <a:prstGeom prst="rect">
            <a:avLst/>
          </a:prstGeom>
          <a:noFill/>
        </p:spPr>
        <p:txBody>
          <a:bodyPr wrap="square" anchor="ctr"/>
          <a:lstStyle/>
          <a:p>
            <a:pPr marL="0" indent="0" algn="ctr">
              <a:buNone/>
            </a:pPr>
            <a:r>
              <a:rPr sz="1600" b="1">
                <a:solidFill>
                  <a:srgbClr val="FFFFFF"/>
                </a:solidFill>
                <a:latin typeface="Calibri"/>
                <a:ea typeface="Calibri"/>
                <a:cs typeface="Calibri"/>
              </a:rPr>
              <a:t>4</a:t>
            </a:r>
            <a:endParaRPr sz="1600"/>
          </a:p>
        </p:txBody>
      </p:sp>
      <p:sp>
        <p:nvSpPr>
          <p:cNvPr id="23" name="Text 20">
            <a:extLst>
              <a:ext uri="{FF2B5EF4-FFF2-40B4-BE49-F238E27FC236}">
                <a16:creationId xmlns:a16="http://schemas.microsoft.com/office/drawing/2014/main" id="{030761FE-538C-4EE7-9E5D-83063C7AECAD}"/>
              </a:ext>
            </a:extLst>
          </p:cNvPr>
          <p:cNvSpPr>
            <a:spLocks noGrp="1"/>
          </p:cNvSpPr>
          <p:nvPr/>
        </p:nvSpPr>
        <p:spPr>
          <a:xfrm>
            <a:off x="8961120" y="2130552"/>
            <a:ext cx="2468880" cy="457200"/>
          </a:xfrm>
          <a:prstGeom prst="rect">
            <a:avLst/>
          </a:prstGeom>
          <a:noFill/>
        </p:spPr>
        <p:txBody>
          <a:bodyPr wrap="square" anchor="ctr"/>
          <a:lstStyle/>
          <a:p>
            <a:pPr marL="0" indent="0" algn="ctr">
              <a:buNone/>
            </a:pPr>
            <a:r>
              <a:rPr sz="1350" b="1">
                <a:solidFill>
                  <a:srgbClr val="1E2761"/>
                </a:solidFill>
                <a:latin typeface="Calibri"/>
                <a:ea typeface="Calibri"/>
                <a:cs typeface="Calibri"/>
              </a:rPr>
              <a:t>Laptop Visualization</a:t>
            </a:r>
            <a:endParaRPr sz="1350"/>
          </a:p>
        </p:txBody>
      </p:sp>
      <p:sp>
        <p:nvSpPr>
          <p:cNvPr id="24" name="Text 21">
            <a:extLst>
              <a:ext uri="{FF2B5EF4-FFF2-40B4-BE49-F238E27FC236}">
                <a16:creationId xmlns:a16="http://schemas.microsoft.com/office/drawing/2014/main" id="{8AADE5C3-B3D9-46BA-B27D-3A1F1ABDA6D8}"/>
              </a:ext>
            </a:extLst>
          </p:cNvPr>
          <p:cNvSpPr>
            <a:spLocks noGrp="1"/>
          </p:cNvSpPr>
          <p:nvPr/>
        </p:nvSpPr>
        <p:spPr>
          <a:xfrm>
            <a:off x="9006840" y="2587752"/>
            <a:ext cx="2377440" cy="1965960"/>
          </a:xfrm>
          <a:prstGeom prst="rect">
            <a:avLst/>
          </a:prstGeom>
          <a:noFill/>
        </p:spPr>
        <p:txBody>
          <a:bodyPr wrap="square" anchor="t"/>
          <a:lstStyle/>
          <a:p>
            <a:pPr marL="146304" indent="-146304" algn="l">
              <a:buClr>
                <a:srgbClr val="3D5AFE"/>
              </a:buClr>
              <a:buFont typeface="Arial"/>
              <a:buChar char="•"/>
            </a:pPr>
            <a:r>
              <a:rPr sz="1100" b="0" i="0">
                <a:solidFill>
                  <a:srgbClr val="1A1A2E"/>
                </a:solidFill>
                <a:latin typeface="Calibri"/>
                <a:ea typeface="Calibri"/>
                <a:cs typeface="Calibri"/>
              </a:rPr>
              <a:t>Python dashboard receives data over Wi-Fi</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Rover path with position-tagged points</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Signal-strength and packet-loss heat maps</a:t>
            </a:r>
          </a:p>
          <a:p>
            <a:pPr marL="146304" indent="-146304" algn="l">
              <a:spcBef>
                <a:spcPts val="500"/>
              </a:spcBef>
              <a:buClr>
                <a:srgbClr val="3D5AFE"/>
              </a:buClr>
              <a:buFont typeface="Arial"/>
              <a:buChar char="•"/>
            </a:pPr>
            <a:r>
              <a:rPr sz="1100" b="0" i="0">
                <a:solidFill>
                  <a:srgbClr val="1A1A2E"/>
                </a:solidFill>
                <a:latin typeface="Calibri"/>
                <a:ea typeface="Calibri"/>
                <a:cs typeface="Calibri"/>
              </a:rPr>
              <a:t>Waveforms, decoded UART and battery status</a:t>
            </a:r>
          </a:p>
        </p:txBody>
      </p:sp>
      <p:sp>
        <p:nvSpPr>
          <p:cNvPr id="27" name="Text 23">
            <a:extLst>
              <a:ext uri="{FF2B5EF4-FFF2-40B4-BE49-F238E27FC236}">
                <a16:creationId xmlns:a16="http://schemas.microsoft.com/office/drawing/2014/main" id="{580F8B09-CDC2-49DD-9F4A-BCD06BC900F5}"/>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9</a:t>
            </a:r>
            <a:endParaRPr sz="1100"/>
          </a:p>
        </p:txBody>
      </p:sp>
      <p:sp>
        <p:nvSpPr>
          <p:cNvPr id="28" name="TextBox 27">
            <a:extLst>
              <a:ext uri="{FF2B5EF4-FFF2-40B4-BE49-F238E27FC236}">
                <a16:creationId xmlns:a16="http://schemas.microsoft.com/office/drawing/2014/main" id="{977F68F6-C876-4F43-8122-E3476A029498}"/>
              </a:ext>
            </a:extLst>
          </p:cNvPr>
          <p:cNvSpPr>
            <a:spLocks noGrp="1"/>
          </p:cNvSpPr>
          <p:nvPr/>
        </p:nvSpPr>
        <p:spPr>
          <a:xfrm>
            <a:off x="502920" y="5001768"/>
            <a:ext cx="11018520" cy="329184"/>
          </a:xfrm>
          <a:prstGeom prst="rect">
            <a:avLst/>
          </a:prstGeom>
          <a:noFill/>
        </p:spPr>
        <p:txBody>
          <a:bodyPr wrap="square" lIns="0" tIns="0" rIns="0" bIns="0" anchor="ctr">
            <a:noAutofit/>
          </a:bodyPr>
          <a:lstStyle/>
          <a:p>
            <a:pPr marL="0" indent="0" algn="l">
              <a:buNone/>
            </a:pPr>
            <a:r>
              <a:rPr sz="1500" b="1" i="0">
                <a:solidFill>
                  <a:srgbClr val="1E2761"/>
                </a:solidFill>
                <a:latin typeface="Calibri"/>
                <a:ea typeface="Calibri"/>
                <a:cs typeface="Calibri"/>
              </a:rPr>
              <a:t>Parameters logged at every measurement point</a:t>
            </a:r>
          </a:p>
        </p:txBody>
      </p:sp>
      <p:sp>
        <p:nvSpPr>
          <p:cNvPr id="29" name="Rounded Rectangle 28">
            <a:extLst>
              <a:ext uri="{FF2B5EF4-FFF2-40B4-BE49-F238E27FC236}">
                <a16:creationId xmlns:a16="http://schemas.microsoft.com/office/drawing/2014/main" id="{E2D8E541-2E94-4AA2-A1C6-FBDB83BACFAB}"/>
              </a:ext>
            </a:extLst>
          </p:cNvPr>
          <p:cNvSpPr>
            <a:spLocks noGrp="1"/>
          </p:cNvSpPr>
          <p:nvPr/>
        </p:nvSpPr>
        <p:spPr>
          <a:xfrm>
            <a:off x="502920"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RSSI (dBm)</a:t>
            </a:r>
          </a:p>
        </p:txBody>
      </p:sp>
      <p:sp>
        <p:nvSpPr>
          <p:cNvPr id="30" name="Rounded Rectangle 29">
            <a:extLst>
              <a:ext uri="{FF2B5EF4-FFF2-40B4-BE49-F238E27FC236}">
                <a16:creationId xmlns:a16="http://schemas.microsoft.com/office/drawing/2014/main" id="{E46B5D50-F7D5-4C46-99A5-559FD4A1739C}"/>
              </a:ext>
            </a:extLst>
          </p:cNvPr>
          <p:cNvSpPr>
            <a:spLocks noGrp="1"/>
          </p:cNvSpPr>
          <p:nvPr/>
        </p:nvSpPr>
        <p:spPr>
          <a:xfrm>
            <a:off x="1897380"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Packet loss (%)</a:t>
            </a:r>
          </a:p>
        </p:txBody>
      </p:sp>
      <p:sp>
        <p:nvSpPr>
          <p:cNvPr id="31" name="Rounded Rectangle 30">
            <a:extLst>
              <a:ext uri="{FF2B5EF4-FFF2-40B4-BE49-F238E27FC236}">
                <a16:creationId xmlns:a16="http://schemas.microsoft.com/office/drawing/2014/main" id="{D38050C7-D5A9-4960-8295-97C7D9A65A5E}"/>
              </a:ext>
            </a:extLst>
          </p:cNvPr>
          <p:cNvSpPr>
            <a:spLocks noGrp="1"/>
          </p:cNvSpPr>
          <p:nvPr/>
        </p:nvSpPr>
        <p:spPr>
          <a:xfrm>
            <a:off x="3291839"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Latency (ms)</a:t>
            </a:r>
          </a:p>
        </p:txBody>
      </p:sp>
      <p:sp>
        <p:nvSpPr>
          <p:cNvPr id="32" name="Rounded Rectangle 31">
            <a:extLst>
              <a:ext uri="{FF2B5EF4-FFF2-40B4-BE49-F238E27FC236}">
                <a16:creationId xmlns:a16="http://schemas.microsoft.com/office/drawing/2014/main" id="{75E293A7-F836-4E7E-9EDF-3AB563814711}"/>
              </a:ext>
            </a:extLst>
          </p:cNvPr>
          <p:cNvSpPr>
            <a:spLocks noGrp="1"/>
          </p:cNvSpPr>
          <p:nvPr/>
        </p:nvSpPr>
        <p:spPr>
          <a:xfrm>
            <a:off x="4686299"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Baud rate</a:t>
            </a:r>
          </a:p>
        </p:txBody>
      </p:sp>
      <p:sp>
        <p:nvSpPr>
          <p:cNvPr id="33" name="Rounded Rectangle 32">
            <a:extLst>
              <a:ext uri="{FF2B5EF4-FFF2-40B4-BE49-F238E27FC236}">
                <a16:creationId xmlns:a16="http://schemas.microsoft.com/office/drawing/2014/main" id="{847DAF44-D461-43F1-94DD-A06F54FC88CE}"/>
              </a:ext>
            </a:extLst>
          </p:cNvPr>
          <p:cNvSpPr>
            <a:spLocks noGrp="1"/>
          </p:cNvSpPr>
          <p:nvPr/>
        </p:nvSpPr>
        <p:spPr>
          <a:xfrm>
            <a:off x="6080759"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Duty cycle (%)</a:t>
            </a:r>
          </a:p>
        </p:txBody>
      </p:sp>
      <p:sp>
        <p:nvSpPr>
          <p:cNvPr id="34" name="Rounded Rectangle 33">
            <a:extLst>
              <a:ext uri="{FF2B5EF4-FFF2-40B4-BE49-F238E27FC236}">
                <a16:creationId xmlns:a16="http://schemas.microsoft.com/office/drawing/2014/main" id="{E9E44CF8-FB5D-4522-9B77-7C4F045B9C87}"/>
              </a:ext>
            </a:extLst>
          </p:cNvPr>
          <p:cNvSpPr>
            <a:spLocks noGrp="1"/>
          </p:cNvSpPr>
          <p:nvPr/>
        </p:nvSpPr>
        <p:spPr>
          <a:xfrm>
            <a:off x="7475220"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UART errors</a:t>
            </a:r>
          </a:p>
        </p:txBody>
      </p:sp>
      <p:sp>
        <p:nvSpPr>
          <p:cNvPr id="35" name="Rounded Rectangle 34">
            <a:extLst>
              <a:ext uri="{FF2B5EF4-FFF2-40B4-BE49-F238E27FC236}">
                <a16:creationId xmlns:a16="http://schemas.microsoft.com/office/drawing/2014/main" id="{F73DB450-9404-4BD1-A3E4-7F515897C4EE}"/>
              </a:ext>
            </a:extLst>
          </p:cNvPr>
          <p:cNvSpPr>
            <a:spLocks noGrp="1"/>
          </p:cNvSpPr>
          <p:nvPr/>
        </p:nvSpPr>
        <p:spPr>
          <a:xfrm>
            <a:off x="8869680"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Position (x, y)</a:t>
            </a:r>
          </a:p>
        </p:txBody>
      </p:sp>
      <p:sp>
        <p:nvSpPr>
          <p:cNvPr id="36" name="Rounded Rectangle 35">
            <a:extLst>
              <a:ext uri="{FF2B5EF4-FFF2-40B4-BE49-F238E27FC236}">
                <a16:creationId xmlns:a16="http://schemas.microsoft.com/office/drawing/2014/main" id="{A90F689E-B63F-41B2-AD11-63C789F2CF29}"/>
              </a:ext>
            </a:extLst>
          </p:cNvPr>
          <p:cNvSpPr>
            <a:spLocks noGrp="1"/>
          </p:cNvSpPr>
          <p:nvPr/>
        </p:nvSpPr>
        <p:spPr>
          <a:xfrm>
            <a:off x="10264140" y="5458968"/>
            <a:ext cx="1257300" cy="457200"/>
          </a:xfrm>
          <a:prstGeom prst="roundRect">
            <a:avLst>
              <a:gd name="adj" fmla="val 50000"/>
            </a:avLst>
          </a:prstGeom>
          <a:solidFill>
            <a:srgbClr val="CADCFC"/>
          </a:solidFill>
          <a:ln>
            <a:noFill/>
          </a:ln>
        </p:spPr>
        <p:txBody>
          <a:bodyPr wrap="square" lIns="45720" tIns="18288" rIns="45720" bIns="18288" anchor="ctr">
            <a:noAutofit/>
          </a:bodyPr>
          <a:lstStyle/>
          <a:p>
            <a:pPr marL="0" indent="0" algn="ctr">
              <a:buNone/>
            </a:pPr>
            <a:r>
              <a:rPr sz="1150" b="1" i="0">
                <a:solidFill>
                  <a:srgbClr val="1E2761"/>
                </a:solidFill>
                <a:latin typeface="Calibri"/>
                <a:ea typeface="Calibri"/>
                <a:cs typeface="Calibri"/>
              </a:rPr>
              <a:t>Battery level</a:t>
            </a:r>
          </a:p>
        </p:txBody>
      </p:sp>
    </p:spTree>
    <p:extLst>
      <p:ext uri="{BB962C8B-B14F-4D97-AF65-F5344CB8AC3E}">
        <p14:creationId xmlns:p14="http://schemas.microsoft.com/office/powerpoint/2010/main" val="680144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F3FF145B-2CB0-4C51-A7CA-E58D4ECC9D33}"/>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3840308C-98F7-40A5-93D1-1849FE7852C5}"/>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PROPOSED SYSTEM (contd.)</a:t>
            </a:r>
            <a:endParaRPr sz="3000"/>
          </a:p>
        </p:txBody>
      </p:sp>
      <p:sp>
        <p:nvSpPr>
          <p:cNvPr id="5" name="Text 2">
            <a:extLst>
              <a:ext uri="{FF2B5EF4-FFF2-40B4-BE49-F238E27FC236}">
                <a16:creationId xmlns:a16="http://schemas.microsoft.com/office/drawing/2014/main" id="{AA2EFFA9-1C3B-4BF2-8962-1F001EECF91A}"/>
              </a:ext>
            </a:extLst>
          </p:cNvPr>
          <p:cNvSpPr>
            <a:spLocks noGrp="1"/>
          </p:cNvSpPr>
          <p:nvPr/>
        </p:nvSpPr>
        <p:spPr>
          <a:xfrm>
            <a:off x="640080" y="1463040"/>
            <a:ext cx="5669280" cy="4572000"/>
          </a:xfrm>
          <a:prstGeom prst="rect">
            <a:avLst/>
          </a:prstGeom>
          <a:noFill/>
        </p:spPr>
        <p:txBody>
          <a:bodyPr wrap="square" anchor="t"/>
          <a:lstStyle/>
          <a:p>
            <a:pPr marL="228600" indent="-228600">
              <a:spcAft>
                <a:spcPts val="1000"/>
              </a:spcAft>
              <a:buSzPct val="100000"/>
              <a:buChar char="●"/>
            </a:pPr>
            <a:r>
              <a:rPr sz="1350">
                <a:solidFill>
                  <a:srgbClr val="1A1A2E"/>
                </a:solidFill>
                <a:latin typeface="Calibri"/>
                <a:ea typeface="Calibri"/>
                <a:cs typeface="Calibri"/>
              </a:rPr>
              <a:t>Operator defines the test area or measurement path; rover starts from a known location.</a:t>
            </a:r>
            <a:endParaRPr sz="1350"/>
          </a:p>
          <a:p>
            <a:pPr marL="228600" indent="-228600">
              <a:spcAft>
                <a:spcPts val="1000"/>
              </a:spcAft>
              <a:buSzPct val="100000"/>
              <a:buChar char="●"/>
            </a:pPr>
            <a:r>
              <a:rPr sz="1350">
                <a:solidFill>
                  <a:srgbClr val="1A1A2E"/>
                </a:solidFill>
                <a:latin typeface="Calibri"/>
                <a:ea typeface="Calibri"/>
                <a:cs typeface="Calibri"/>
              </a:rPr>
              <a:t>Rover moves to a measurement point, stops, and records its position.</a:t>
            </a:r>
            <a:endParaRPr sz="1350"/>
          </a:p>
          <a:p>
            <a:pPr marL="228600" indent="-228600">
              <a:spcAft>
                <a:spcPts val="1000"/>
              </a:spcAft>
              <a:buSzPct val="100000"/>
              <a:buChar char="●"/>
            </a:pPr>
            <a:r>
              <a:rPr sz="1350">
                <a:solidFill>
                  <a:srgbClr val="1A1A2E"/>
                </a:solidFill>
                <a:latin typeface="Calibri"/>
                <a:ea typeface="Calibri"/>
                <a:cs typeface="Calibri"/>
              </a:rPr>
              <a:t>Wireless subsystem measures signal strength and quality; STM32 analyzer captures the digital signal.</a:t>
            </a:r>
            <a:endParaRPr sz="1350"/>
          </a:p>
          <a:p>
            <a:pPr marL="228600" indent="-228600">
              <a:spcAft>
                <a:spcPts val="1000"/>
              </a:spcAft>
              <a:buSzPct val="100000"/>
              <a:buChar char="●"/>
            </a:pPr>
            <a:r>
              <a:rPr sz="1350">
                <a:solidFill>
                  <a:srgbClr val="1A1A2E"/>
                </a:solidFill>
                <a:latin typeface="Calibri"/>
                <a:ea typeface="Calibri"/>
                <a:cs typeface="Calibri"/>
              </a:rPr>
              <a:t>System computes parameters (baud rate, packet loss, duty cycle) and stores/transmits the data.</a:t>
            </a:r>
            <a:endParaRPr sz="1350"/>
          </a:p>
          <a:p>
            <a:pPr marL="228600" indent="-228600">
              <a:spcAft>
                <a:spcPts val="1000"/>
              </a:spcAft>
              <a:buSzPct val="100000"/>
              <a:buChar char="●"/>
            </a:pPr>
            <a:r>
              <a:rPr sz="1350">
                <a:solidFill>
                  <a:srgbClr val="1A1A2E"/>
                </a:solidFill>
                <a:latin typeface="Calibri"/>
                <a:ea typeface="Calibri"/>
                <a:cs typeface="Calibri"/>
              </a:rPr>
              <a:t>After the scan, software generates a signal-quality map and highlights abnormal areas; rover may re-scan weak-signal zones.</a:t>
            </a:r>
            <a:endParaRPr sz="1350"/>
          </a:p>
        </p:txBody>
      </p:sp>
      <p:pic>
        <p:nvPicPr>
          <p:cNvPr id="17" name="Image 1"/>
          <p:cNvPicPr>
            <a:picLocks noChangeAspect="1"/>
          </p:cNvPicPr>
          <p:nvPr/>
        </p:nvPicPr>
        <p:blipFill>
          <a:blip r:embed="rId4"/>
          <a:stretch>
            <a:fillRect/>
          </a:stretch>
        </p:blipFill>
        <p:spPr>
          <a:xfrm>
            <a:off x="6583680" y="1508760"/>
            <a:ext cx="4937760" cy="2697480"/>
          </a:xfrm>
          <a:prstGeom prst="rect">
            <a:avLst/>
          </a:prstGeom>
        </p:spPr>
      </p:pic>
      <p:sp>
        <p:nvSpPr>
          <p:cNvPr id="7" name="Text 3">
            <a:extLst>
              <a:ext uri="{FF2B5EF4-FFF2-40B4-BE49-F238E27FC236}">
                <a16:creationId xmlns:a16="http://schemas.microsoft.com/office/drawing/2014/main" id="{AA4F55BC-F0EC-4AC5-83D3-A9DE4EA01075}"/>
              </a:ext>
            </a:extLst>
          </p:cNvPr>
          <p:cNvSpPr>
            <a:spLocks noGrp="1"/>
          </p:cNvSpPr>
          <p:nvPr/>
        </p:nvSpPr>
        <p:spPr>
          <a:xfrm>
            <a:off x="6583680" y="4251960"/>
            <a:ext cx="4937760" cy="365760"/>
          </a:xfrm>
          <a:prstGeom prst="rect">
            <a:avLst/>
          </a:prstGeom>
          <a:noFill/>
        </p:spPr>
        <p:txBody>
          <a:bodyPr wrap="square" anchor="ctr"/>
          <a:lstStyle/>
          <a:p>
            <a:pPr marL="0" indent="0" algn="ctr">
              <a:buNone/>
            </a:pPr>
            <a:r>
              <a:rPr sz="1050" i="1">
                <a:solidFill>
                  <a:srgbClr val="5A5A6E"/>
                </a:solidFill>
                <a:latin typeface="Calibri"/>
                <a:ea typeface="Calibri"/>
                <a:cs typeface="Calibri"/>
              </a:rPr>
              <a:t>Prototype rover with logic-analyzer capture and RSSI heat-map display</a:t>
            </a:r>
            <a:endParaRPr sz="1050"/>
          </a:p>
        </p:txBody>
      </p:sp>
      <p:sp>
        <p:nvSpPr>
          <p:cNvPr id="8" name="Shape 4">
            <a:extLst>
              <a:ext uri="{FF2B5EF4-FFF2-40B4-BE49-F238E27FC236}">
                <a16:creationId xmlns:a16="http://schemas.microsoft.com/office/drawing/2014/main" id="{B6C8F505-5E35-4D64-81CB-3D0C877E96AF}"/>
              </a:ext>
            </a:extLst>
          </p:cNvPr>
          <p:cNvSpPr>
            <a:spLocks noGrp="1"/>
          </p:cNvSpPr>
          <p:nvPr/>
        </p:nvSpPr>
        <p:spPr>
          <a:xfrm>
            <a:off x="6583680" y="4754880"/>
            <a:ext cx="4937760" cy="1417320"/>
          </a:xfrm>
          <a:prstGeom prst="roundRect">
            <a:avLst>
              <a:gd name="adj" fmla="val 5161"/>
            </a:avLst>
          </a:prstGeom>
          <a:solidFill>
            <a:srgbClr val="F4F6FC"/>
          </a:solidFill>
        </p:spPr>
        <p:txBody>
          <a:bodyPr/>
          <a:lstStyle/>
          <a:p>
            <a:endParaRPr lang="en-US"/>
          </a:p>
        </p:txBody>
      </p:sp>
      <p:sp>
        <p:nvSpPr>
          <p:cNvPr id="9" name="Text 5">
            <a:extLst>
              <a:ext uri="{FF2B5EF4-FFF2-40B4-BE49-F238E27FC236}">
                <a16:creationId xmlns:a16="http://schemas.microsoft.com/office/drawing/2014/main" id="{3A7BE091-A5B5-4F16-876E-60A7AE0D068D}"/>
              </a:ext>
            </a:extLst>
          </p:cNvPr>
          <p:cNvSpPr>
            <a:spLocks noGrp="1"/>
          </p:cNvSpPr>
          <p:nvPr/>
        </p:nvSpPr>
        <p:spPr>
          <a:xfrm>
            <a:off x="6766560" y="4892040"/>
            <a:ext cx="4572000" cy="1143000"/>
          </a:xfrm>
          <a:prstGeom prst="rect">
            <a:avLst/>
          </a:prstGeom>
          <a:noFill/>
        </p:spPr>
        <p:txBody>
          <a:bodyPr wrap="square" anchor="ctr"/>
          <a:lstStyle/>
          <a:p>
            <a:pPr marL="0" indent="0" algn="l">
              <a:buNone/>
            </a:pPr>
            <a:r>
              <a:rPr sz="1250" b="1">
                <a:solidFill>
                  <a:srgbClr val="1A1A2E"/>
                </a:solidFill>
                <a:latin typeface="Calibri"/>
                <a:ea typeface="Calibri"/>
                <a:cs typeface="Calibri"/>
              </a:rPr>
              <a:t>Navigation stages: Manual → Fixed-path → Autonomous waypoint → Adaptive measurement</a:t>
            </a:r>
            <a:endParaRPr sz="1250"/>
          </a:p>
        </p:txBody>
      </p:sp>
      <p:sp>
        <p:nvSpPr>
          <p:cNvPr id="10" name="Text 6">
            <a:extLst>
              <a:ext uri="{FF2B5EF4-FFF2-40B4-BE49-F238E27FC236}">
                <a16:creationId xmlns:a16="http://schemas.microsoft.com/office/drawing/2014/main" id="{61FAA665-9D0D-4BC0-AB1C-165DAEBB1EC8}"/>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10</a:t>
            </a:r>
            <a:endParaRPr sz="1100"/>
          </a:p>
        </p:txBody>
      </p:sp>
    </p:spTree>
    <p:extLst>
      <p:ext uri="{BB962C8B-B14F-4D97-AF65-F5344CB8AC3E}">
        <p14:creationId xmlns:p14="http://schemas.microsoft.com/office/powerpoint/2010/main" val="394328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47AF4B43-C416-416B-B366-D8C67C3D648B}"/>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BC84ACCF-78EF-40D3-A614-81BCADB6621B}"/>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BLOCK DIAGRAM</a:t>
            </a:r>
            <a:endParaRPr sz="3000"/>
          </a:p>
        </p:txBody>
      </p:sp>
      <p:sp>
        <p:nvSpPr>
          <p:cNvPr id="6" name="Text 3">
            <a:extLst>
              <a:ext uri="{FF2B5EF4-FFF2-40B4-BE49-F238E27FC236}">
                <a16:creationId xmlns:a16="http://schemas.microsoft.com/office/drawing/2014/main" id="{8E937068-B2D5-4A44-A031-7FBD003A349A}"/>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11</a:t>
            </a:r>
            <a:endParaRPr sz="1100"/>
          </a:p>
        </p:txBody>
      </p:sp>
      <p:sp>
        <p:nvSpPr>
          <p:cNvPr id="7" name="Rounded Rectangle 6">
            <a:extLst>
              <a:ext uri="{FF2B5EF4-FFF2-40B4-BE49-F238E27FC236}">
                <a16:creationId xmlns:a16="http://schemas.microsoft.com/office/drawing/2014/main" id="{515FFCB5-BD45-46E4-8025-ADA6C19D1C49}"/>
              </a:ext>
            </a:extLst>
          </p:cNvPr>
          <p:cNvSpPr>
            <a:spLocks noGrp="1"/>
          </p:cNvSpPr>
          <p:nvPr/>
        </p:nvSpPr>
        <p:spPr>
          <a:xfrm>
            <a:off x="457200" y="1371600"/>
            <a:ext cx="2286000" cy="749808"/>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200" b="1" i="0">
                <a:solidFill>
                  <a:srgbClr val="1E2761"/>
                </a:solidFill>
                <a:latin typeface="Calibri"/>
                <a:ea typeface="Calibri"/>
                <a:cs typeface="Calibri"/>
              </a:rPr>
              <a:t>Signal Probe Inputs</a:t>
            </a:r>
          </a:p>
          <a:p>
            <a:pPr marL="0" indent="0" algn="ctr">
              <a:spcBef>
                <a:spcPts val="100"/>
              </a:spcBef>
              <a:buNone/>
            </a:pPr>
            <a:r>
              <a:rPr sz="1000" b="0" i="0">
                <a:solidFill>
                  <a:srgbClr val="1A1A2E"/>
                </a:solidFill>
                <a:latin typeface="Calibri"/>
                <a:ea typeface="Calibri"/>
                <a:cs typeface="Calibri"/>
              </a:rPr>
              <a:t>UART · GPIO · PWM under test</a:t>
            </a:r>
          </a:p>
        </p:txBody>
      </p:sp>
      <p:sp>
        <p:nvSpPr>
          <p:cNvPr id="8" name="Rounded Rectangle 7">
            <a:extLst>
              <a:ext uri="{FF2B5EF4-FFF2-40B4-BE49-F238E27FC236}">
                <a16:creationId xmlns:a16="http://schemas.microsoft.com/office/drawing/2014/main" id="{7313B6BD-B3D3-43C7-89FA-9B9E4603C4C1}"/>
              </a:ext>
            </a:extLst>
          </p:cNvPr>
          <p:cNvSpPr>
            <a:spLocks noGrp="1"/>
          </p:cNvSpPr>
          <p:nvPr/>
        </p:nvSpPr>
        <p:spPr>
          <a:xfrm>
            <a:off x="457200" y="2359152"/>
            <a:ext cx="2286000" cy="749808"/>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200" b="1" i="0">
                <a:solidFill>
                  <a:srgbClr val="1E2761"/>
                </a:solidFill>
                <a:latin typeface="Calibri"/>
                <a:ea typeface="Calibri"/>
                <a:cs typeface="Calibri"/>
              </a:rPr>
              <a:t>MPU6050 IMU</a:t>
            </a:r>
          </a:p>
          <a:p>
            <a:pPr marL="0" indent="0" algn="ctr">
              <a:spcBef>
                <a:spcPts val="100"/>
              </a:spcBef>
              <a:buNone/>
            </a:pPr>
            <a:r>
              <a:rPr sz="1000" b="0" i="0">
                <a:solidFill>
                  <a:srgbClr val="1A1A2E"/>
                </a:solidFill>
                <a:latin typeface="Calibri"/>
                <a:ea typeface="Calibri"/>
                <a:cs typeface="Calibri"/>
              </a:rPr>
              <a:t>3-axis gyro + 3-axis accel</a:t>
            </a:r>
          </a:p>
        </p:txBody>
      </p:sp>
      <p:sp>
        <p:nvSpPr>
          <p:cNvPr id="9" name="Rounded Rectangle 8">
            <a:extLst>
              <a:ext uri="{FF2B5EF4-FFF2-40B4-BE49-F238E27FC236}">
                <a16:creationId xmlns:a16="http://schemas.microsoft.com/office/drawing/2014/main" id="{155367E5-FCE2-4986-829C-2FF4ADF06895}"/>
              </a:ext>
            </a:extLst>
          </p:cNvPr>
          <p:cNvSpPr>
            <a:spLocks noGrp="1"/>
          </p:cNvSpPr>
          <p:nvPr/>
        </p:nvSpPr>
        <p:spPr>
          <a:xfrm>
            <a:off x="457200" y="3346704"/>
            <a:ext cx="2286000" cy="749808"/>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200" b="1" i="0">
                <a:solidFill>
                  <a:srgbClr val="1E2761"/>
                </a:solidFill>
                <a:latin typeface="Calibri"/>
                <a:ea typeface="Calibri"/>
                <a:cs typeface="Calibri"/>
              </a:rPr>
              <a:t>HC-SR04 Ultrasonic</a:t>
            </a:r>
          </a:p>
          <a:p>
            <a:pPr marL="0" indent="0" algn="ctr">
              <a:spcBef>
                <a:spcPts val="100"/>
              </a:spcBef>
              <a:buNone/>
            </a:pPr>
            <a:r>
              <a:rPr sz="1000" b="0" i="0">
                <a:solidFill>
                  <a:srgbClr val="1A1A2E"/>
                </a:solidFill>
                <a:latin typeface="Calibri"/>
                <a:ea typeface="Calibri"/>
                <a:cs typeface="Calibri"/>
              </a:rPr>
              <a:t>Obstacle distance, 2–400 cm</a:t>
            </a:r>
          </a:p>
        </p:txBody>
      </p:sp>
      <p:sp>
        <p:nvSpPr>
          <p:cNvPr id="10" name="Rounded Rectangle 9">
            <a:extLst>
              <a:ext uri="{FF2B5EF4-FFF2-40B4-BE49-F238E27FC236}">
                <a16:creationId xmlns:a16="http://schemas.microsoft.com/office/drawing/2014/main" id="{0203922F-ECA1-46FB-903B-5F301C3EB26A}"/>
              </a:ext>
            </a:extLst>
          </p:cNvPr>
          <p:cNvSpPr>
            <a:spLocks noGrp="1"/>
          </p:cNvSpPr>
          <p:nvPr/>
        </p:nvSpPr>
        <p:spPr>
          <a:xfrm>
            <a:off x="457200" y="4334256"/>
            <a:ext cx="2286000" cy="749808"/>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200" b="1" i="0">
                <a:solidFill>
                  <a:srgbClr val="1E2761"/>
                </a:solidFill>
                <a:latin typeface="Calibri"/>
                <a:ea typeface="Calibri"/>
                <a:cs typeface="Calibri"/>
              </a:rPr>
              <a:t>Wheel Encoders (L / R)</a:t>
            </a:r>
          </a:p>
          <a:p>
            <a:pPr marL="0" indent="0" algn="ctr">
              <a:spcBef>
                <a:spcPts val="100"/>
              </a:spcBef>
              <a:buNone/>
            </a:pPr>
            <a:r>
              <a:rPr sz="1000" b="0" i="0">
                <a:solidFill>
                  <a:srgbClr val="1A1A2E"/>
                </a:solidFill>
                <a:latin typeface="Calibri"/>
                <a:ea typeface="Calibri"/>
                <a:cs typeface="Calibri"/>
              </a:rPr>
              <a:t>Quadrature pulses for odometry</a:t>
            </a:r>
          </a:p>
        </p:txBody>
      </p:sp>
      <p:sp>
        <p:nvSpPr>
          <p:cNvPr id="11" name="Rounded Rectangle 10">
            <a:extLst>
              <a:ext uri="{FF2B5EF4-FFF2-40B4-BE49-F238E27FC236}">
                <a16:creationId xmlns:a16="http://schemas.microsoft.com/office/drawing/2014/main" id="{D3CA9F80-3572-4389-9D09-2C3C60236741}"/>
              </a:ext>
            </a:extLst>
          </p:cNvPr>
          <p:cNvSpPr>
            <a:spLocks noGrp="1"/>
          </p:cNvSpPr>
          <p:nvPr/>
        </p:nvSpPr>
        <p:spPr>
          <a:xfrm>
            <a:off x="4023360" y="1371600"/>
            <a:ext cx="2377440" cy="3712464"/>
          </a:xfrm>
          <a:prstGeom prst="roundRect">
            <a:avLst>
              <a:gd name="adj" fmla="val 5000"/>
            </a:avLst>
          </a:prstGeom>
          <a:solidFill>
            <a:srgbClr val="1E2761"/>
          </a:solidFill>
          <a:ln>
            <a:noFill/>
          </a:ln>
        </p:spPr>
        <p:txBody>
          <a:bodyPr wrap="square" lIns="164592" tIns="91440" rIns="164592" bIns="91440" anchor="ctr">
            <a:noAutofit/>
          </a:bodyPr>
          <a:lstStyle/>
          <a:p>
            <a:pPr marL="0" indent="0" algn="ctr">
              <a:buNone/>
            </a:pPr>
            <a:r>
              <a:rPr sz="1700" b="1" i="0">
                <a:solidFill>
                  <a:srgbClr val="FFFFFF"/>
                </a:solidFill>
                <a:latin typeface="Calibri"/>
                <a:ea typeface="Calibri"/>
                <a:cs typeface="Calibri"/>
              </a:rPr>
              <a:t>STM32F103C8T6</a:t>
            </a:r>
          </a:p>
          <a:p>
            <a:pPr marL="0" indent="0" algn="ctr">
              <a:spcBef>
                <a:spcPts val="200"/>
              </a:spcBef>
              <a:buNone/>
            </a:pPr>
            <a:r>
              <a:rPr sz="1000" b="0" i="0">
                <a:solidFill>
                  <a:srgbClr val="CADCFC"/>
                </a:solidFill>
                <a:latin typeface="Calibri"/>
                <a:ea typeface="Calibri"/>
                <a:cs typeface="Calibri"/>
              </a:rPr>
              <a:t>Blue Pill · Cortex-M3 · 72 MHz</a:t>
            </a:r>
          </a:p>
          <a:p>
            <a:pPr marL="0" indent="0" algn="l">
              <a:spcBef>
                <a:spcPts val="1600"/>
              </a:spcBef>
              <a:buNone/>
            </a:pPr>
            <a:r>
              <a:rPr sz="1150" b="1" i="0">
                <a:solidFill>
                  <a:srgbClr val="CADCFC"/>
                </a:solidFill>
                <a:latin typeface="Calibri"/>
                <a:ea typeface="Calibri"/>
                <a:cs typeface="Calibri"/>
              </a:rPr>
              <a:t>Firmware functions</a:t>
            </a:r>
          </a:p>
          <a:p>
            <a:pPr marL="146304" indent="-146304" algn="l">
              <a:spcBef>
                <a:spcPts val="500"/>
              </a:spcBef>
              <a:buClr>
                <a:srgbClr val="CADCFC"/>
              </a:buClr>
              <a:buFont typeface="Arial"/>
              <a:buChar char="•"/>
            </a:pPr>
            <a:r>
              <a:rPr sz="1100" b="0" i="0">
                <a:solidFill>
                  <a:srgbClr val="FFFFFF"/>
                </a:solidFill>
                <a:latin typeface="Calibri"/>
                <a:ea typeface="Calibri"/>
                <a:cs typeface="Calibri"/>
              </a:rPr>
              <a:t>Timer + DMA signal capture</a:t>
            </a:r>
          </a:p>
          <a:p>
            <a:pPr marL="146304" indent="-146304" algn="l">
              <a:spcBef>
                <a:spcPts val="500"/>
              </a:spcBef>
              <a:buClr>
                <a:srgbClr val="CADCFC"/>
              </a:buClr>
              <a:buFont typeface="Arial"/>
              <a:buChar char="•"/>
            </a:pPr>
            <a:r>
              <a:rPr sz="1100" b="0" i="0">
                <a:solidFill>
                  <a:srgbClr val="FFFFFF"/>
                </a:solidFill>
                <a:latin typeface="Calibri"/>
                <a:ea typeface="Calibri"/>
                <a:cs typeface="Calibri"/>
              </a:rPr>
              <a:t>Trigger detection &amp; UART decoding</a:t>
            </a:r>
          </a:p>
          <a:p>
            <a:pPr marL="146304" indent="-146304" algn="l">
              <a:spcBef>
                <a:spcPts val="500"/>
              </a:spcBef>
              <a:buClr>
                <a:srgbClr val="CADCFC"/>
              </a:buClr>
              <a:buFont typeface="Arial"/>
              <a:buChar char="•"/>
            </a:pPr>
            <a:r>
              <a:rPr sz="1100" b="0" i="0">
                <a:solidFill>
                  <a:srgbClr val="FFFFFF"/>
                </a:solidFill>
                <a:latin typeface="Calibri"/>
                <a:ea typeface="Calibri"/>
                <a:cs typeface="Calibri"/>
              </a:rPr>
              <a:t>Odometry + IMU heading estimate</a:t>
            </a:r>
          </a:p>
          <a:p>
            <a:pPr marL="146304" indent="-146304" algn="l">
              <a:spcBef>
                <a:spcPts val="500"/>
              </a:spcBef>
              <a:buClr>
                <a:srgbClr val="CADCFC"/>
              </a:buClr>
              <a:buFont typeface="Arial"/>
              <a:buChar char="•"/>
            </a:pPr>
            <a:r>
              <a:rPr sz="1100" b="0" i="0">
                <a:solidFill>
                  <a:srgbClr val="FFFFFF"/>
                </a:solidFill>
                <a:latin typeface="Calibri"/>
                <a:ea typeface="Calibri"/>
                <a:cs typeface="Calibri"/>
              </a:rPr>
              <a:t>PWM motor control &amp; obstacle stop</a:t>
            </a:r>
          </a:p>
          <a:p>
            <a:pPr marL="146304" indent="-146304" algn="l">
              <a:spcBef>
                <a:spcPts val="500"/>
              </a:spcBef>
              <a:buClr>
                <a:srgbClr val="CADCFC"/>
              </a:buClr>
              <a:buFont typeface="Arial"/>
              <a:buChar char="•"/>
            </a:pPr>
            <a:r>
              <a:rPr sz="1100" b="0" i="0">
                <a:solidFill>
                  <a:srgbClr val="FFFFFF"/>
                </a:solidFill>
                <a:latin typeface="Calibri"/>
                <a:ea typeface="Calibri"/>
                <a:cs typeface="Calibri"/>
              </a:rPr>
              <a:t>Position-tagged data frames to ESP32</a:t>
            </a:r>
          </a:p>
        </p:txBody>
      </p:sp>
      <p:sp>
        <p:nvSpPr>
          <p:cNvPr id="12" name="Rounded Rectangle 11">
            <a:extLst>
              <a:ext uri="{FF2B5EF4-FFF2-40B4-BE49-F238E27FC236}">
                <a16:creationId xmlns:a16="http://schemas.microsoft.com/office/drawing/2014/main" id="{92EB4407-BA66-4D6E-974F-937F181F7AB7}"/>
              </a:ext>
            </a:extLst>
          </p:cNvPr>
          <p:cNvSpPr>
            <a:spLocks noGrp="1"/>
          </p:cNvSpPr>
          <p:nvPr/>
        </p:nvSpPr>
        <p:spPr>
          <a:xfrm>
            <a:off x="7589520" y="1371600"/>
            <a:ext cx="1920240" cy="1371600"/>
          </a:xfrm>
          <a:prstGeom prst="roundRect">
            <a:avLst>
              <a:gd name="adj" fmla="val 8000"/>
            </a:avLst>
          </a:prstGeom>
          <a:solidFill>
            <a:srgbClr val="3D5AFE"/>
          </a:solidFill>
          <a:ln>
            <a:noFill/>
          </a:ln>
        </p:spPr>
        <p:txBody>
          <a:bodyPr wrap="square" anchor="ctr">
            <a:noAutofit/>
          </a:bodyPr>
          <a:lstStyle/>
          <a:p>
            <a:pPr marL="0" indent="0" algn="ctr">
              <a:buNone/>
            </a:pPr>
            <a:r>
              <a:rPr sz="1600" b="1" i="0">
                <a:solidFill>
                  <a:srgbClr val="FFFFFF"/>
                </a:solidFill>
                <a:latin typeface="Calibri"/>
                <a:ea typeface="Calibri"/>
                <a:cs typeface="Calibri"/>
              </a:rPr>
              <a:t>ESP32</a:t>
            </a:r>
          </a:p>
          <a:p>
            <a:pPr marL="0" indent="0" algn="ctr">
              <a:spcBef>
                <a:spcPts val="200"/>
              </a:spcBef>
              <a:buNone/>
            </a:pPr>
            <a:r>
              <a:rPr sz="1000" b="0" i="0">
                <a:solidFill>
                  <a:srgbClr val="FFFFFF"/>
                </a:solidFill>
                <a:latin typeface="Calibri"/>
                <a:ea typeface="Calibri"/>
                <a:cs typeface="Calibri"/>
              </a:rPr>
              <a:t>Wi-Fi 802.11 b/g/n + BLE</a:t>
            </a:r>
          </a:p>
          <a:p>
            <a:pPr marL="0" indent="0" algn="ctr">
              <a:spcBef>
                <a:spcPts val="100"/>
              </a:spcBef>
              <a:buNone/>
            </a:pPr>
            <a:r>
              <a:rPr sz="1000" b="0" i="0">
                <a:solidFill>
                  <a:srgbClr val="FFFFFF"/>
                </a:solidFill>
                <a:latin typeface="Calibri"/>
                <a:ea typeface="Calibri"/>
                <a:cs typeface="Calibri"/>
              </a:rPr>
              <a:t>RSSI · loss · latency</a:t>
            </a:r>
          </a:p>
        </p:txBody>
      </p:sp>
      <p:sp>
        <p:nvSpPr>
          <p:cNvPr id="13" name="Rounded Rectangle 12">
            <a:extLst>
              <a:ext uri="{FF2B5EF4-FFF2-40B4-BE49-F238E27FC236}">
                <a16:creationId xmlns:a16="http://schemas.microsoft.com/office/drawing/2014/main" id="{053C5DFE-3D7A-4EFE-B43C-DE5D0BFFFB61}"/>
              </a:ext>
            </a:extLst>
          </p:cNvPr>
          <p:cNvSpPr>
            <a:spLocks noGrp="1"/>
          </p:cNvSpPr>
          <p:nvPr/>
        </p:nvSpPr>
        <p:spPr>
          <a:xfrm>
            <a:off x="7726680" y="3063240"/>
            <a:ext cx="1645920" cy="566928"/>
          </a:xfrm>
          <a:prstGeom prst="roundRect">
            <a:avLst>
              <a:gd name="adj" fmla="val 10000"/>
            </a:avLst>
          </a:prstGeom>
          <a:solidFill>
            <a:srgbClr val="FFFFFF"/>
          </a:solidFill>
          <a:ln w="15875">
            <a:solidFill>
              <a:srgbClr val="3D5AFE"/>
            </a:solidFill>
            <a:prstDash val="dash"/>
          </a:ln>
        </p:spPr>
        <p:txBody>
          <a:bodyPr wrap="square" anchor="ctr">
            <a:noAutofit/>
          </a:bodyPr>
          <a:lstStyle/>
          <a:p>
            <a:pPr marL="0" indent="0" algn="ctr">
              <a:buNone/>
            </a:pPr>
            <a:r>
              <a:rPr sz="1000" b="1" i="0">
                <a:solidFill>
                  <a:srgbClr val="1E2761"/>
                </a:solidFill>
                <a:latin typeface="Calibri"/>
                <a:ea typeface="Calibri"/>
                <a:cs typeface="Calibri"/>
              </a:rPr>
              <a:t>LoRa module (optional)</a:t>
            </a:r>
          </a:p>
        </p:txBody>
      </p:sp>
      <p:sp>
        <p:nvSpPr>
          <p:cNvPr id="14" name="Rounded Rectangle 13">
            <a:extLst>
              <a:ext uri="{FF2B5EF4-FFF2-40B4-BE49-F238E27FC236}">
                <a16:creationId xmlns:a16="http://schemas.microsoft.com/office/drawing/2014/main" id="{E724180F-DBE9-4BEE-B7E7-C9B2D7FE326B}"/>
              </a:ext>
            </a:extLst>
          </p:cNvPr>
          <p:cNvSpPr>
            <a:spLocks noGrp="1"/>
          </p:cNvSpPr>
          <p:nvPr/>
        </p:nvSpPr>
        <p:spPr>
          <a:xfrm>
            <a:off x="10058400" y="1371600"/>
            <a:ext cx="1673352" cy="1371600"/>
          </a:xfrm>
          <a:prstGeom prst="roundRect">
            <a:avLst>
              <a:gd name="adj" fmla="val 10000"/>
            </a:avLst>
          </a:prstGeom>
          <a:solidFill>
            <a:srgbClr val="F4F6FC"/>
          </a:solidFill>
          <a:ln w="12700">
            <a:solidFill>
              <a:srgbClr val="1E2761"/>
            </a:solidFill>
          </a:ln>
        </p:spPr>
        <p:txBody>
          <a:bodyPr wrap="square" anchor="ctr">
            <a:noAutofit/>
          </a:bodyPr>
          <a:lstStyle/>
          <a:p>
            <a:pPr marL="0" indent="0" algn="ctr">
              <a:buNone/>
            </a:pPr>
            <a:r>
              <a:rPr sz="1400" b="1" i="0">
                <a:solidFill>
                  <a:srgbClr val="1E2761"/>
                </a:solidFill>
                <a:latin typeface="Calibri"/>
                <a:ea typeface="Calibri"/>
                <a:cs typeface="Calibri"/>
              </a:rPr>
              <a:t>Laptop</a:t>
            </a:r>
          </a:p>
          <a:p>
            <a:pPr marL="0" indent="0" algn="ctr">
              <a:spcBef>
                <a:spcPts val="100"/>
              </a:spcBef>
              <a:buNone/>
            </a:pPr>
            <a:r>
              <a:rPr sz="1000" b="0" i="0">
                <a:solidFill>
                  <a:srgbClr val="1A1A2E"/>
                </a:solidFill>
                <a:latin typeface="Calibri"/>
                <a:ea typeface="Calibri"/>
                <a:cs typeface="Calibri"/>
              </a:rPr>
              <a:t>Python dashboard</a:t>
            </a:r>
          </a:p>
          <a:p>
            <a:pPr marL="0" indent="0" algn="ctr">
              <a:spcBef>
                <a:spcPts val="100"/>
              </a:spcBef>
              <a:buNone/>
            </a:pPr>
            <a:r>
              <a:rPr sz="1000" b="0" i="0">
                <a:solidFill>
                  <a:srgbClr val="1A1A2E"/>
                </a:solidFill>
                <a:latin typeface="Calibri"/>
                <a:ea typeface="Calibri"/>
                <a:cs typeface="Calibri"/>
              </a:rPr>
              <a:t>Heat maps · waveforms</a:t>
            </a:r>
          </a:p>
          <a:p>
            <a:pPr marL="0" indent="0" algn="ctr">
              <a:spcBef>
                <a:spcPts val="100"/>
              </a:spcBef>
              <a:buNone/>
            </a:pPr>
            <a:r>
              <a:rPr sz="1000" b="0" i="0">
                <a:solidFill>
                  <a:srgbClr val="1A1A2E"/>
                </a:solidFill>
                <a:latin typeface="Calibri"/>
                <a:ea typeface="Calibri"/>
                <a:cs typeface="Calibri"/>
              </a:rPr>
              <a:t>Decoded UART log</a:t>
            </a:r>
          </a:p>
        </p:txBody>
      </p:sp>
      <p:sp>
        <p:nvSpPr>
          <p:cNvPr id="15" name="Rounded Rectangle 14">
            <a:extLst>
              <a:ext uri="{FF2B5EF4-FFF2-40B4-BE49-F238E27FC236}">
                <a16:creationId xmlns:a16="http://schemas.microsoft.com/office/drawing/2014/main" id="{72B17E4D-3D7E-4B08-970C-F1926AD22364}"/>
              </a:ext>
            </a:extLst>
          </p:cNvPr>
          <p:cNvSpPr>
            <a:spLocks noGrp="1"/>
          </p:cNvSpPr>
          <p:nvPr/>
        </p:nvSpPr>
        <p:spPr>
          <a:xfrm>
            <a:off x="7589520" y="3895344"/>
            <a:ext cx="1920240" cy="1188720"/>
          </a:xfrm>
          <a:prstGeom prst="roundRect">
            <a:avLst>
              <a:gd name="adj" fmla="val 10000"/>
            </a:avLst>
          </a:prstGeom>
          <a:solidFill>
            <a:srgbClr val="F4F6FC"/>
          </a:solidFill>
          <a:ln w="12700">
            <a:solidFill>
              <a:srgbClr val="1E2761"/>
            </a:solidFill>
          </a:ln>
        </p:spPr>
        <p:txBody>
          <a:bodyPr wrap="square" anchor="ctr">
            <a:noAutofit/>
          </a:bodyPr>
          <a:lstStyle/>
          <a:p>
            <a:pPr marL="0" indent="0" algn="ctr">
              <a:buNone/>
            </a:pPr>
            <a:r>
              <a:rPr sz="1400" b="1" i="0">
                <a:solidFill>
                  <a:srgbClr val="1E2761"/>
                </a:solidFill>
                <a:latin typeface="Calibri"/>
                <a:ea typeface="Calibri"/>
                <a:cs typeface="Calibri"/>
              </a:rPr>
              <a:t>TB6612FNG</a:t>
            </a:r>
          </a:p>
          <a:p>
            <a:pPr marL="0" indent="0" algn="ctr">
              <a:spcBef>
                <a:spcPts val="100"/>
              </a:spcBef>
              <a:buNone/>
            </a:pPr>
            <a:r>
              <a:rPr sz="1000" b="0" i="0">
                <a:solidFill>
                  <a:srgbClr val="1A1A2E"/>
                </a:solidFill>
                <a:latin typeface="Calibri"/>
                <a:ea typeface="Calibri"/>
                <a:cs typeface="Calibri"/>
              </a:rPr>
              <a:t>Dual H-bridge motor driver</a:t>
            </a:r>
          </a:p>
        </p:txBody>
      </p:sp>
      <p:sp>
        <p:nvSpPr>
          <p:cNvPr id="16" name="Rounded Rectangle 15">
            <a:extLst>
              <a:ext uri="{FF2B5EF4-FFF2-40B4-BE49-F238E27FC236}">
                <a16:creationId xmlns:a16="http://schemas.microsoft.com/office/drawing/2014/main" id="{46085C83-4C01-445C-AA23-5D9B380A90AB}"/>
              </a:ext>
            </a:extLst>
          </p:cNvPr>
          <p:cNvSpPr>
            <a:spLocks noGrp="1"/>
          </p:cNvSpPr>
          <p:nvPr/>
        </p:nvSpPr>
        <p:spPr>
          <a:xfrm>
            <a:off x="10058400" y="3895344"/>
            <a:ext cx="1673352" cy="512064"/>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100" b="1" i="0">
                <a:solidFill>
                  <a:srgbClr val="1E2761"/>
                </a:solidFill>
                <a:latin typeface="Calibri"/>
                <a:ea typeface="Calibri"/>
                <a:cs typeface="Calibri"/>
              </a:rPr>
              <a:t>Left DC motor</a:t>
            </a:r>
          </a:p>
        </p:txBody>
      </p:sp>
      <p:sp>
        <p:nvSpPr>
          <p:cNvPr id="17" name="Rounded Rectangle 16">
            <a:extLst>
              <a:ext uri="{FF2B5EF4-FFF2-40B4-BE49-F238E27FC236}">
                <a16:creationId xmlns:a16="http://schemas.microsoft.com/office/drawing/2014/main" id="{A9C057E7-0974-490E-98D3-C38700317EED}"/>
              </a:ext>
            </a:extLst>
          </p:cNvPr>
          <p:cNvSpPr>
            <a:spLocks noGrp="1"/>
          </p:cNvSpPr>
          <p:nvPr/>
        </p:nvSpPr>
        <p:spPr>
          <a:xfrm>
            <a:off x="10058400" y="4572000"/>
            <a:ext cx="1673352" cy="512064"/>
          </a:xfrm>
          <a:prstGeom prst="roundRect">
            <a:avLst>
              <a:gd name="adj" fmla="val 10000"/>
            </a:avLst>
          </a:prstGeom>
          <a:solidFill>
            <a:srgbClr val="F4F6FC"/>
          </a:solidFill>
          <a:ln w="12700">
            <a:solidFill>
              <a:srgbClr val="AEB8DC"/>
            </a:solidFill>
          </a:ln>
        </p:spPr>
        <p:txBody>
          <a:bodyPr wrap="square" anchor="ctr">
            <a:noAutofit/>
          </a:bodyPr>
          <a:lstStyle/>
          <a:p>
            <a:pPr marL="0" indent="0" algn="ctr">
              <a:buNone/>
            </a:pPr>
            <a:r>
              <a:rPr sz="1100" b="1" i="0">
                <a:solidFill>
                  <a:srgbClr val="1E2761"/>
                </a:solidFill>
                <a:latin typeface="Calibri"/>
                <a:ea typeface="Calibri"/>
                <a:cs typeface="Calibri"/>
              </a:rPr>
              <a:t>Right DC motor</a:t>
            </a:r>
          </a:p>
        </p:txBody>
      </p:sp>
      <p:sp>
        <p:nvSpPr>
          <p:cNvPr id="18" name="Rounded Rectangle 17">
            <a:extLst>
              <a:ext uri="{FF2B5EF4-FFF2-40B4-BE49-F238E27FC236}">
                <a16:creationId xmlns:a16="http://schemas.microsoft.com/office/drawing/2014/main" id="{0E1DD112-23E8-4443-97BF-5F27553ECB0E}"/>
              </a:ext>
            </a:extLst>
          </p:cNvPr>
          <p:cNvSpPr>
            <a:spLocks noGrp="1"/>
          </p:cNvSpPr>
          <p:nvPr/>
        </p:nvSpPr>
        <p:spPr>
          <a:xfrm>
            <a:off x="4023360" y="5413248"/>
            <a:ext cx="2377440" cy="548640"/>
          </a:xfrm>
          <a:prstGeom prst="roundRect">
            <a:avLst>
              <a:gd name="adj" fmla="val 10000"/>
            </a:avLst>
          </a:prstGeom>
          <a:solidFill>
            <a:srgbClr val="FFF3E6"/>
          </a:solidFill>
          <a:ln w="15875">
            <a:solidFill>
              <a:srgbClr val="D9730D"/>
            </a:solidFill>
          </a:ln>
        </p:spPr>
        <p:txBody>
          <a:bodyPr wrap="square" anchor="ctr">
            <a:noAutofit/>
          </a:bodyPr>
          <a:lstStyle/>
          <a:p>
            <a:pPr marL="0" indent="0" algn="ctr">
              <a:buNone/>
            </a:pPr>
            <a:r>
              <a:rPr sz="1200" b="1" i="0">
                <a:solidFill>
                  <a:srgbClr val="1E2761"/>
                </a:solidFill>
                <a:latin typeface="Calibri"/>
                <a:ea typeface="Calibri"/>
                <a:cs typeface="Calibri"/>
              </a:rPr>
              <a:t>Buck regulator</a:t>
            </a:r>
          </a:p>
          <a:p>
            <a:pPr marL="0" indent="0" algn="ctr">
              <a:spcBef>
                <a:spcPts val="100"/>
              </a:spcBef>
              <a:buNone/>
            </a:pPr>
            <a:r>
              <a:rPr sz="1000" b="0" i="0">
                <a:solidFill>
                  <a:srgbClr val="1A1A2E"/>
                </a:solidFill>
                <a:latin typeface="Calibri"/>
                <a:ea typeface="Calibri"/>
                <a:cs typeface="Calibri"/>
              </a:rPr>
              <a:t>5 V / 3.3 V logic rails</a:t>
            </a:r>
          </a:p>
        </p:txBody>
      </p:sp>
      <p:sp>
        <p:nvSpPr>
          <p:cNvPr id="19" name="Rounded Rectangle 18">
            <a:extLst>
              <a:ext uri="{FF2B5EF4-FFF2-40B4-BE49-F238E27FC236}">
                <a16:creationId xmlns:a16="http://schemas.microsoft.com/office/drawing/2014/main" id="{7B7182FE-E3C3-4A76-B5CF-12888CF46FBA}"/>
              </a:ext>
            </a:extLst>
          </p:cNvPr>
          <p:cNvSpPr>
            <a:spLocks noGrp="1"/>
          </p:cNvSpPr>
          <p:nvPr/>
        </p:nvSpPr>
        <p:spPr>
          <a:xfrm>
            <a:off x="7589520" y="5413248"/>
            <a:ext cx="1920240" cy="548640"/>
          </a:xfrm>
          <a:prstGeom prst="roundRect">
            <a:avLst>
              <a:gd name="adj" fmla="val 10000"/>
            </a:avLst>
          </a:prstGeom>
          <a:solidFill>
            <a:srgbClr val="FFF3E6"/>
          </a:solidFill>
          <a:ln w="15875">
            <a:solidFill>
              <a:srgbClr val="D9730D"/>
            </a:solidFill>
          </a:ln>
        </p:spPr>
        <p:txBody>
          <a:bodyPr wrap="square" anchor="ctr">
            <a:noAutofit/>
          </a:bodyPr>
          <a:lstStyle/>
          <a:p>
            <a:pPr marL="0" indent="0" algn="ctr">
              <a:buNone/>
            </a:pPr>
            <a:r>
              <a:rPr sz="1200" b="1" i="0">
                <a:solidFill>
                  <a:srgbClr val="1E2761"/>
                </a:solidFill>
                <a:latin typeface="Calibri"/>
                <a:ea typeface="Calibri"/>
                <a:cs typeface="Calibri"/>
              </a:rPr>
              <a:t>Li-ion battery pack</a:t>
            </a:r>
          </a:p>
          <a:p>
            <a:pPr marL="0" indent="0" algn="ctr">
              <a:spcBef>
                <a:spcPts val="100"/>
              </a:spcBef>
              <a:buNone/>
            </a:pPr>
            <a:r>
              <a:rPr sz="1000" b="0" i="0">
                <a:solidFill>
                  <a:srgbClr val="1A1A2E"/>
                </a:solidFill>
                <a:latin typeface="Calibri"/>
                <a:ea typeface="Calibri"/>
                <a:cs typeface="Calibri"/>
              </a:rPr>
              <a:t>Main supply (V_BAT)</a:t>
            </a:r>
          </a:p>
        </p:txBody>
      </p:sp>
      <p:sp>
        <p:nvSpPr>
          <p:cNvPr id="20" name="Connector 19">
            <a:extLst>
              <a:ext uri="{FF2B5EF4-FFF2-40B4-BE49-F238E27FC236}">
                <a16:creationId xmlns:a16="http://schemas.microsoft.com/office/drawing/2014/main" id="{F9BE2EC1-08EF-445E-A205-B5736F454C0A}"/>
              </a:ext>
            </a:extLst>
          </p:cNvPr>
          <p:cNvSpPr>
            <a:spLocks noGrp="1"/>
          </p:cNvSpPr>
          <p:nvPr/>
        </p:nvSpPr>
        <p:spPr>
          <a:xfrm>
            <a:off x="2743200" y="1746504"/>
            <a:ext cx="1280160" cy="0"/>
          </a:xfrm>
          <a:prstGeom prst="line">
            <a:avLst/>
          </a:prstGeom>
          <a:ln w="15875">
            <a:solidFill>
              <a:srgbClr val="5A5A6E"/>
            </a:solidFill>
            <a:tailEnd type="triangle" w="med" len="med"/>
          </a:ln>
        </p:spPr>
        <p:txBody>
          <a:bodyPr/>
          <a:lstStyle/>
          <a:p>
            <a:endParaRPr lang="en-US"/>
          </a:p>
        </p:txBody>
      </p:sp>
      <p:sp>
        <p:nvSpPr>
          <p:cNvPr id="21" name="TextBox 20">
            <a:extLst>
              <a:ext uri="{FF2B5EF4-FFF2-40B4-BE49-F238E27FC236}">
                <a16:creationId xmlns:a16="http://schemas.microsoft.com/office/drawing/2014/main" id="{FBB983CB-0E6E-464F-9A06-97F03EE2CA14}"/>
              </a:ext>
            </a:extLst>
          </p:cNvPr>
          <p:cNvSpPr>
            <a:spLocks noGrp="1"/>
          </p:cNvSpPr>
          <p:nvPr/>
        </p:nvSpPr>
        <p:spPr>
          <a:xfrm>
            <a:off x="2761488" y="1499616"/>
            <a:ext cx="124358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GPIO · TIM + DMA</a:t>
            </a:r>
          </a:p>
        </p:txBody>
      </p:sp>
      <p:sp>
        <p:nvSpPr>
          <p:cNvPr id="22" name="Connector 21">
            <a:extLst>
              <a:ext uri="{FF2B5EF4-FFF2-40B4-BE49-F238E27FC236}">
                <a16:creationId xmlns:a16="http://schemas.microsoft.com/office/drawing/2014/main" id="{B59CA466-4B3F-4A6C-ACC9-508EBA568623}"/>
              </a:ext>
            </a:extLst>
          </p:cNvPr>
          <p:cNvSpPr>
            <a:spLocks noGrp="1"/>
          </p:cNvSpPr>
          <p:nvPr/>
        </p:nvSpPr>
        <p:spPr>
          <a:xfrm>
            <a:off x="2743200" y="2734056"/>
            <a:ext cx="1280160" cy="0"/>
          </a:xfrm>
          <a:prstGeom prst="line">
            <a:avLst/>
          </a:prstGeom>
          <a:ln w="15875">
            <a:solidFill>
              <a:srgbClr val="5A5A6E"/>
            </a:solidFill>
            <a:headEnd type="triangle" w="med" len="med"/>
            <a:tailEnd type="triangle" w="med" len="med"/>
          </a:ln>
        </p:spPr>
        <p:txBody>
          <a:bodyPr/>
          <a:lstStyle/>
          <a:p>
            <a:endParaRPr lang="en-US"/>
          </a:p>
        </p:txBody>
      </p:sp>
      <p:sp>
        <p:nvSpPr>
          <p:cNvPr id="23" name="TextBox 22">
            <a:extLst>
              <a:ext uri="{FF2B5EF4-FFF2-40B4-BE49-F238E27FC236}">
                <a16:creationId xmlns:a16="http://schemas.microsoft.com/office/drawing/2014/main" id="{17220434-30DC-4FD6-9A7A-E4A79BAB664A}"/>
              </a:ext>
            </a:extLst>
          </p:cNvPr>
          <p:cNvSpPr>
            <a:spLocks noGrp="1"/>
          </p:cNvSpPr>
          <p:nvPr/>
        </p:nvSpPr>
        <p:spPr>
          <a:xfrm>
            <a:off x="2761488" y="2487168"/>
            <a:ext cx="124358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I2C (SCL, SDA)</a:t>
            </a:r>
          </a:p>
        </p:txBody>
      </p:sp>
      <p:sp>
        <p:nvSpPr>
          <p:cNvPr id="24" name="Connector 23">
            <a:extLst>
              <a:ext uri="{FF2B5EF4-FFF2-40B4-BE49-F238E27FC236}">
                <a16:creationId xmlns:a16="http://schemas.microsoft.com/office/drawing/2014/main" id="{FEB4CB40-2EE7-4CB5-8A82-73CD421EF106}"/>
              </a:ext>
            </a:extLst>
          </p:cNvPr>
          <p:cNvSpPr>
            <a:spLocks noGrp="1"/>
          </p:cNvSpPr>
          <p:nvPr/>
        </p:nvSpPr>
        <p:spPr>
          <a:xfrm>
            <a:off x="2743200" y="3721608"/>
            <a:ext cx="1280160" cy="0"/>
          </a:xfrm>
          <a:prstGeom prst="line">
            <a:avLst/>
          </a:prstGeom>
          <a:ln w="15875">
            <a:solidFill>
              <a:srgbClr val="5A5A6E"/>
            </a:solidFill>
            <a:headEnd type="triangle" w="med" len="med"/>
            <a:tailEnd type="triangle" w="med" len="med"/>
          </a:ln>
        </p:spPr>
        <p:txBody>
          <a:bodyPr/>
          <a:lstStyle/>
          <a:p>
            <a:endParaRPr lang="en-US"/>
          </a:p>
        </p:txBody>
      </p:sp>
      <p:sp>
        <p:nvSpPr>
          <p:cNvPr id="25" name="TextBox 24">
            <a:extLst>
              <a:ext uri="{FF2B5EF4-FFF2-40B4-BE49-F238E27FC236}">
                <a16:creationId xmlns:a16="http://schemas.microsoft.com/office/drawing/2014/main" id="{59D391F3-D7FD-4F06-B23A-FF7000F8EC69}"/>
              </a:ext>
            </a:extLst>
          </p:cNvPr>
          <p:cNvSpPr>
            <a:spLocks noGrp="1"/>
          </p:cNvSpPr>
          <p:nvPr/>
        </p:nvSpPr>
        <p:spPr>
          <a:xfrm>
            <a:off x="2761488" y="3474720"/>
            <a:ext cx="124358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Trig / Echo (GPIO)</a:t>
            </a:r>
          </a:p>
        </p:txBody>
      </p:sp>
      <p:sp>
        <p:nvSpPr>
          <p:cNvPr id="26" name="Connector 25">
            <a:extLst>
              <a:ext uri="{FF2B5EF4-FFF2-40B4-BE49-F238E27FC236}">
                <a16:creationId xmlns:a16="http://schemas.microsoft.com/office/drawing/2014/main" id="{7AC0F43A-F369-4458-9525-39286F1C50DE}"/>
              </a:ext>
            </a:extLst>
          </p:cNvPr>
          <p:cNvSpPr>
            <a:spLocks noGrp="1"/>
          </p:cNvSpPr>
          <p:nvPr/>
        </p:nvSpPr>
        <p:spPr>
          <a:xfrm>
            <a:off x="2743200" y="4709160"/>
            <a:ext cx="1280160" cy="0"/>
          </a:xfrm>
          <a:prstGeom prst="line">
            <a:avLst/>
          </a:prstGeom>
          <a:ln w="15875">
            <a:solidFill>
              <a:srgbClr val="5A5A6E"/>
            </a:solidFill>
            <a:tailEnd type="triangle" w="med" len="med"/>
          </a:ln>
        </p:spPr>
        <p:txBody>
          <a:bodyPr/>
          <a:lstStyle/>
          <a:p>
            <a:endParaRPr lang="en-US"/>
          </a:p>
        </p:txBody>
      </p:sp>
      <p:sp>
        <p:nvSpPr>
          <p:cNvPr id="27" name="TextBox 26">
            <a:extLst>
              <a:ext uri="{FF2B5EF4-FFF2-40B4-BE49-F238E27FC236}">
                <a16:creationId xmlns:a16="http://schemas.microsoft.com/office/drawing/2014/main" id="{04E51FB8-27F7-4659-AB3E-8C64D217DAD2}"/>
              </a:ext>
            </a:extLst>
          </p:cNvPr>
          <p:cNvSpPr>
            <a:spLocks noGrp="1"/>
          </p:cNvSpPr>
          <p:nvPr/>
        </p:nvSpPr>
        <p:spPr>
          <a:xfrm>
            <a:off x="2761488" y="4462272"/>
            <a:ext cx="124358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A / B · TIM encoder</a:t>
            </a:r>
          </a:p>
        </p:txBody>
      </p:sp>
      <p:sp>
        <p:nvSpPr>
          <p:cNvPr id="28" name="Connector 27">
            <a:extLst>
              <a:ext uri="{FF2B5EF4-FFF2-40B4-BE49-F238E27FC236}">
                <a16:creationId xmlns:a16="http://schemas.microsoft.com/office/drawing/2014/main" id="{E1BB54B5-40D3-4FDC-B045-298C702225A2}"/>
              </a:ext>
            </a:extLst>
          </p:cNvPr>
          <p:cNvSpPr>
            <a:spLocks noGrp="1"/>
          </p:cNvSpPr>
          <p:nvPr/>
        </p:nvSpPr>
        <p:spPr>
          <a:xfrm>
            <a:off x="6400800" y="2057400"/>
            <a:ext cx="1188720" cy="0"/>
          </a:xfrm>
          <a:prstGeom prst="line">
            <a:avLst/>
          </a:prstGeom>
          <a:ln w="15875">
            <a:solidFill>
              <a:srgbClr val="5A5A6E"/>
            </a:solidFill>
            <a:headEnd type="triangle" w="med" len="med"/>
            <a:tailEnd type="triangle" w="med" len="med"/>
          </a:ln>
        </p:spPr>
        <p:txBody>
          <a:bodyPr/>
          <a:lstStyle/>
          <a:p>
            <a:endParaRPr lang="en-US"/>
          </a:p>
        </p:txBody>
      </p:sp>
      <p:sp>
        <p:nvSpPr>
          <p:cNvPr id="29" name="TextBox 28">
            <a:extLst>
              <a:ext uri="{FF2B5EF4-FFF2-40B4-BE49-F238E27FC236}">
                <a16:creationId xmlns:a16="http://schemas.microsoft.com/office/drawing/2014/main" id="{B6AB4D27-3A95-4A3D-85AD-6DDE2C5B31A7}"/>
              </a:ext>
            </a:extLst>
          </p:cNvPr>
          <p:cNvSpPr>
            <a:spLocks noGrp="1"/>
          </p:cNvSpPr>
          <p:nvPr/>
        </p:nvSpPr>
        <p:spPr>
          <a:xfrm>
            <a:off x="6419088" y="1810512"/>
            <a:ext cx="115214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UART / SPI</a:t>
            </a:r>
          </a:p>
        </p:txBody>
      </p:sp>
      <p:sp>
        <p:nvSpPr>
          <p:cNvPr id="30" name="Connector 29">
            <a:extLst>
              <a:ext uri="{FF2B5EF4-FFF2-40B4-BE49-F238E27FC236}">
                <a16:creationId xmlns:a16="http://schemas.microsoft.com/office/drawing/2014/main" id="{AF4F8A1B-3B5B-458F-AE2F-8F148CDA0CBA}"/>
              </a:ext>
            </a:extLst>
          </p:cNvPr>
          <p:cNvSpPr>
            <a:spLocks noGrp="1"/>
          </p:cNvSpPr>
          <p:nvPr/>
        </p:nvSpPr>
        <p:spPr>
          <a:xfrm>
            <a:off x="6400800" y="4206240"/>
            <a:ext cx="1188720" cy="0"/>
          </a:xfrm>
          <a:prstGeom prst="line">
            <a:avLst/>
          </a:prstGeom>
          <a:ln w="15875">
            <a:solidFill>
              <a:srgbClr val="5A5A6E"/>
            </a:solidFill>
            <a:tailEnd type="triangle" w="med" len="med"/>
          </a:ln>
        </p:spPr>
        <p:txBody>
          <a:bodyPr/>
          <a:lstStyle/>
          <a:p>
            <a:endParaRPr lang="en-US"/>
          </a:p>
        </p:txBody>
      </p:sp>
      <p:sp>
        <p:nvSpPr>
          <p:cNvPr id="31" name="TextBox 30">
            <a:extLst>
              <a:ext uri="{FF2B5EF4-FFF2-40B4-BE49-F238E27FC236}">
                <a16:creationId xmlns:a16="http://schemas.microsoft.com/office/drawing/2014/main" id="{B8387E72-FE6E-47DC-8A94-4D423A7BD113}"/>
              </a:ext>
            </a:extLst>
          </p:cNvPr>
          <p:cNvSpPr>
            <a:spLocks noGrp="1"/>
          </p:cNvSpPr>
          <p:nvPr/>
        </p:nvSpPr>
        <p:spPr>
          <a:xfrm>
            <a:off x="6419088" y="3959352"/>
            <a:ext cx="115214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PWM (TIM)</a:t>
            </a:r>
          </a:p>
        </p:txBody>
      </p:sp>
      <p:sp>
        <p:nvSpPr>
          <p:cNvPr id="32" name="Connector 31">
            <a:extLst>
              <a:ext uri="{FF2B5EF4-FFF2-40B4-BE49-F238E27FC236}">
                <a16:creationId xmlns:a16="http://schemas.microsoft.com/office/drawing/2014/main" id="{2D3F8C4E-A8A6-4A51-B4D2-9915A8B5879B}"/>
              </a:ext>
            </a:extLst>
          </p:cNvPr>
          <p:cNvSpPr>
            <a:spLocks noGrp="1"/>
          </p:cNvSpPr>
          <p:nvPr/>
        </p:nvSpPr>
        <p:spPr>
          <a:xfrm>
            <a:off x="6400800" y="4773168"/>
            <a:ext cx="1188720" cy="0"/>
          </a:xfrm>
          <a:prstGeom prst="line">
            <a:avLst/>
          </a:prstGeom>
          <a:ln w="15875">
            <a:solidFill>
              <a:srgbClr val="5A5A6E"/>
            </a:solidFill>
            <a:tailEnd type="triangle" w="med" len="med"/>
          </a:ln>
        </p:spPr>
        <p:txBody>
          <a:bodyPr/>
          <a:lstStyle/>
          <a:p>
            <a:endParaRPr lang="en-US"/>
          </a:p>
        </p:txBody>
      </p:sp>
      <p:sp>
        <p:nvSpPr>
          <p:cNvPr id="33" name="TextBox 32">
            <a:extLst>
              <a:ext uri="{FF2B5EF4-FFF2-40B4-BE49-F238E27FC236}">
                <a16:creationId xmlns:a16="http://schemas.microsoft.com/office/drawing/2014/main" id="{49E1CF79-F958-4294-B5D8-326984F9F866}"/>
              </a:ext>
            </a:extLst>
          </p:cNvPr>
          <p:cNvSpPr>
            <a:spLocks noGrp="1"/>
          </p:cNvSpPr>
          <p:nvPr/>
        </p:nvSpPr>
        <p:spPr>
          <a:xfrm>
            <a:off x="6419088" y="4526279"/>
            <a:ext cx="1152144" cy="201168"/>
          </a:xfrm>
          <a:prstGeom prst="rect">
            <a:avLst/>
          </a:prstGeom>
          <a:noFill/>
        </p:spPr>
        <p:txBody>
          <a:bodyPr wrap="square" lIns="0" tIns="0" rIns="0" bIns="0" anchor="ctr">
            <a:noAutofit/>
          </a:bodyPr>
          <a:lstStyle/>
          <a:p>
            <a:pPr marL="0" indent="0" algn="ctr">
              <a:buNone/>
            </a:pPr>
            <a:r>
              <a:rPr sz="900" b="0" i="0">
                <a:solidFill>
                  <a:srgbClr val="5A5A6E"/>
                </a:solidFill>
                <a:latin typeface="Calibri"/>
                <a:ea typeface="Calibri"/>
                <a:cs typeface="Calibri"/>
              </a:rPr>
              <a:t>DIR · STBY (GPIO)</a:t>
            </a:r>
          </a:p>
        </p:txBody>
      </p:sp>
      <p:sp>
        <p:nvSpPr>
          <p:cNvPr id="34" name="Connector 33">
            <a:extLst>
              <a:ext uri="{FF2B5EF4-FFF2-40B4-BE49-F238E27FC236}">
                <a16:creationId xmlns:a16="http://schemas.microsoft.com/office/drawing/2014/main" id="{FB06C875-8777-41B9-B6A3-456F6F0616A6}"/>
              </a:ext>
            </a:extLst>
          </p:cNvPr>
          <p:cNvSpPr>
            <a:spLocks noGrp="1"/>
          </p:cNvSpPr>
          <p:nvPr/>
        </p:nvSpPr>
        <p:spPr>
          <a:xfrm>
            <a:off x="8549640" y="2743200"/>
            <a:ext cx="0" cy="320040"/>
          </a:xfrm>
          <a:prstGeom prst="line">
            <a:avLst/>
          </a:prstGeom>
          <a:ln w="15875">
            <a:solidFill>
              <a:srgbClr val="5A5A6E"/>
            </a:solidFill>
            <a:headEnd type="triangle" w="med" len="med"/>
            <a:tailEnd type="triangle" w="med" len="med"/>
          </a:ln>
        </p:spPr>
        <p:txBody>
          <a:bodyPr/>
          <a:lstStyle/>
          <a:p>
            <a:endParaRPr lang="en-US"/>
          </a:p>
        </p:txBody>
      </p:sp>
      <p:sp>
        <p:nvSpPr>
          <p:cNvPr id="35" name="TextBox 34">
            <a:extLst>
              <a:ext uri="{FF2B5EF4-FFF2-40B4-BE49-F238E27FC236}">
                <a16:creationId xmlns:a16="http://schemas.microsoft.com/office/drawing/2014/main" id="{589FA7D9-0025-43E5-BB5B-A3604DF716C6}"/>
              </a:ext>
            </a:extLst>
          </p:cNvPr>
          <p:cNvSpPr>
            <a:spLocks noGrp="1"/>
          </p:cNvSpPr>
          <p:nvPr/>
        </p:nvSpPr>
        <p:spPr>
          <a:xfrm>
            <a:off x="8622792" y="2798064"/>
            <a:ext cx="457200" cy="201168"/>
          </a:xfrm>
          <a:prstGeom prst="rect">
            <a:avLst/>
          </a:prstGeom>
          <a:noFill/>
        </p:spPr>
        <p:txBody>
          <a:bodyPr wrap="square" lIns="0" tIns="0" rIns="0" bIns="0" anchor="ctr">
            <a:noAutofit/>
          </a:bodyPr>
          <a:lstStyle/>
          <a:p>
            <a:pPr marL="0" indent="0" algn="l">
              <a:buNone/>
            </a:pPr>
            <a:r>
              <a:rPr sz="900" b="0" i="0">
                <a:solidFill>
                  <a:srgbClr val="5A5A6E"/>
                </a:solidFill>
                <a:latin typeface="Calibri"/>
                <a:ea typeface="Calibri"/>
                <a:cs typeface="Calibri"/>
              </a:rPr>
              <a:t>SPI</a:t>
            </a:r>
          </a:p>
        </p:txBody>
      </p:sp>
      <p:sp>
        <p:nvSpPr>
          <p:cNvPr id="36" name="Connector 35">
            <a:extLst>
              <a:ext uri="{FF2B5EF4-FFF2-40B4-BE49-F238E27FC236}">
                <a16:creationId xmlns:a16="http://schemas.microsoft.com/office/drawing/2014/main" id="{05E81D83-EE0B-42EF-871D-8841DB3DE2F4}"/>
              </a:ext>
            </a:extLst>
          </p:cNvPr>
          <p:cNvSpPr>
            <a:spLocks noGrp="1"/>
          </p:cNvSpPr>
          <p:nvPr/>
        </p:nvSpPr>
        <p:spPr>
          <a:xfrm>
            <a:off x="9509760" y="2057400"/>
            <a:ext cx="548640" cy="0"/>
          </a:xfrm>
          <a:prstGeom prst="line">
            <a:avLst/>
          </a:prstGeom>
          <a:ln w="19050">
            <a:solidFill>
              <a:srgbClr val="3D5AFE"/>
            </a:solidFill>
            <a:prstDash val="dash"/>
            <a:headEnd type="triangle" w="med" len="med"/>
            <a:tailEnd type="triangle" w="med" len="med"/>
          </a:ln>
        </p:spPr>
        <p:txBody>
          <a:bodyPr/>
          <a:lstStyle/>
          <a:p>
            <a:endParaRPr lang="en-US"/>
          </a:p>
        </p:txBody>
      </p:sp>
      <p:sp>
        <p:nvSpPr>
          <p:cNvPr id="37" name="TextBox 36">
            <a:extLst>
              <a:ext uri="{FF2B5EF4-FFF2-40B4-BE49-F238E27FC236}">
                <a16:creationId xmlns:a16="http://schemas.microsoft.com/office/drawing/2014/main" id="{DC21A7E0-9657-4883-A691-5839372ED0F4}"/>
              </a:ext>
            </a:extLst>
          </p:cNvPr>
          <p:cNvSpPr>
            <a:spLocks noGrp="1"/>
          </p:cNvSpPr>
          <p:nvPr/>
        </p:nvSpPr>
        <p:spPr>
          <a:xfrm>
            <a:off x="9464040" y="1792224"/>
            <a:ext cx="640079" cy="201168"/>
          </a:xfrm>
          <a:prstGeom prst="rect">
            <a:avLst/>
          </a:prstGeom>
          <a:noFill/>
        </p:spPr>
        <p:txBody>
          <a:bodyPr wrap="square" lIns="0" tIns="0" rIns="0" bIns="0" anchor="ctr">
            <a:noAutofit/>
          </a:bodyPr>
          <a:lstStyle/>
          <a:p>
            <a:pPr marL="0" indent="0" algn="ctr">
              <a:buNone/>
            </a:pPr>
            <a:r>
              <a:rPr sz="900" b="1" i="0">
                <a:solidFill>
                  <a:srgbClr val="3D5AFE"/>
                </a:solidFill>
                <a:latin typeface="Calibri"/>
                <a:ea typeface="Calibri"/>
                <a:cs typeface="Calibri"/>
              </a:rPr>
              <a:t>Wi-Fi</a:t>
            </a:r>
          </a:p>
        </p:txBody>
      </p:sp>
      <p:sp>
        <p:nvSpPr>
          <p:cNvPr id="38" name="Connector 37">
            <a:extLst>
              <a:ext uri="{FF2B5EF4-FFF2-40B4-BE49-F238E27FC236}">
                <a16:creationId xmlns:a16="http://schemas.microsoft.com/office/drawing/2014/main" id="{9EB1EEBB-1F46-485F-9788-4CA186C14D1F}"/>
              </a:ext>
            </a:extLst>
          </p:cNvPr>
          <p:cNvSpPr>
            <a:spLocks noGrp="1"/>
          </p:cNvSpPr>
          <p:nvPr/>
        </p:nvSpPr>
        <p:spPr>
          <a:xfrm>
            <a:off x="9509760" y="4151376"/>
            <a:ext cx="548640" cy="0"/>
          </a:xfrm>
          <a:prstGeom prst="line">
            <a:avLst/>
          </a:prstGeom>
          <a:ln w="15875">
            <a:solidFill>
              <a:srgbClr val="5A5A6E"/>
            </a:solidFill>
            <a:tailEnd type="triangle" w="med" len="med"/>
          </a:ln>
        </p:spPr>
        <p:txBody>
          <a:bodyPr/>
          <a:lstStyle/>
          <a:p>
            <a:endParaRPr lang="en-US"/>
          </a:p>
        </p:txBody>
      </p:sp>
      <p:sp>
        <p:nvSpPr>
          <p:cNvPr id="39" name="Connector 38">
            <a:extLst>
              <a:ext uri="{FF2B5EF4-FFF2-40B4-BE49-F238E27FC236}">
                <a16:creationId xmlns:a16="http://schemas.microsoft.com/office/drawing/2014/main" id="{6F1E68C4-319D-464F-9397-CD4A97AA8583}"/>
              </a:ext>
            </a:extLst>
          </p:cNvPr>
          <p:cNvSpPr>
            <a:spLocks noGrp="1"/>
          </p:cNvSpPr>
          <p:nvPr/>
        </p:nvSpPr>
        <p:spPr>
          <a:xfrm>
            <a:off x="9509760" y="4828031"/>
            <a:ext cx="548640" cy="0"/>
          </a:xfrm>
          <a:prstGeom prst="line">
            <a:avLst/>
          </a:prstGeom>
          <a:ln w="15875">
            <a:solidFill>
              <a:srgbClr val="5A5A6E"/>
            </a:solidFill>
            <a:tailEnd type="triangle" w="med" len="med"/>
          </a:ln>
        </p:spPr>
        <p:txBody>
          <a:bodyPr/>
          <a:lstStyle/>
          <a:p>
            <a:endParaRPr lang="en-US"/>
          </a:p>
        </p:txBody>
      </p:sp>
      <p:sp>
        <p:nvSpPr>
          <p:cNvPr id="40" name="Connector 39">
            <a:extLst>
              <a:ext uri="{FF2B5EF4-FFF2-40B4-BE49-F238E27FC236}">
                <a16:creationId xmlns:a16="http://schemas.microsoft.com/office/drawing/2014/main" id="{CE3405AC-832E-40F7-A288-F7B39259010F}"/>
              </a:ext>
            </a:extLst>
          </p:cNvPr>
          <p:cNvSpPr>
            <a:spLocks noGrp="1"/>
          </p:cNvSpPr>
          <p:nvPr/>
        </p:nvSpPr>
        <p:spPr>
          <a:xfrm flipV="1">
            <a:off x="5212080" y="5084064"/>
            <a:ext cx="0" cy="329184"/>
          </a:xfrm>
          <a:prstGeom prst="line">
            <a:avLst/>
          </a:prstGeom>
          <a:ln w="19050">
            <a:solidFill>
              <a:srgbClr val="D9730D"/>
            </a:solidFill>
            <a:tailEnd type="triangle" w="med" len="med"/>
          </a:ln>
        </p:spPr>
        <p:txBody>
          <a:bodyPr/>
          <a:lstStyle/>
          <a:p>
            <a:endParaRPr lang="en-US"/>
          </a:p>
        </p:txBody>
      </p:sp>
      <p:sp>
        <p:nvSpPr>
          <p:cNvPr id="41" name="TextBox 40">
            <a:extLst>
              <a:ext uri="{FF2B5EF4-FFF2-40B4-BE49-F238E27FC236}">
                <a16:creationId xmlns:a16="http://schemas.microsoft.com/office/drawing/2014/main" id="{300AFF7D-05F6-423E-B092-ADEA67E0B935}"/>
              </a:ext>
            </a:extLst>
          </p:cNvPr>
          <p:cNvSpPr>
            <a:spLocks noGrp="1"/>
          </p:cNvSpPr>
          <p:nvPr/>
        </p:nvSpPr>
        <p:spPr>
          <a:xfrm>
            <a:off x="5285232" y="5138928"/>
            <a:ext cx="1097280" cy="201168"/>
          </a:xfrm>
          <a:prstGeom prst="rect">
            <a:avLst/>
          </a:prstGeom>
          <a:noFill/>
        </p:spPr>
        <p:txBody>
          <a:bodyPr wrap="square" lIns="0" tIns="0" rIns="0" bIns="0" anchor="ctr">
            <a:noAutofit/>
          </a:bodyPr>
          <a:lstStyle/>
          <a:p>
            <a:pPr marL="0" indent="0" algn="l">
              <a:buNone/>
            </a:pPr>
            <a:r>
              <a:rPr sz="900" b="0" i="0">
                <a:solidFill>
                  <a:srgbClr val="D9730D"/>
                </a:solidFill>
                <a:latin typeface="Calibri"/>
                <a:ea typeface="Calibri"/>
                <a:cs typeface="Calibri"/>
              </a:rPr>
              <a:t>3.3 V / 5 V</a:t>
            </a:r>
          </a:p>
        </p:txBody>
      </p:sp>
      <p:sp>
        <p:nvSpPr>
          <p:cNvPr id="42" name="Connector 41">
            <a:extLst>
              <a:ext uri="{FF2B5EF4-FFF2-40B4-BE49-F238E27FC236}">
                <a16:creationId xmlns:a16="http://schemas.microsoft.com/office/drawing/2014/main" id="{00230A39-83C3-4590-8755-2C99E7AF9DFE}"/>
              </a:ext>
            </a:extLst>
          </p:cNvPr>
          <p:cNvSpPr>
            <a:spLocks noGrp="1"/>
          </p:cNvSpPr>
          <p:nvPr/>
        </p:nvSpPr>
        <p:spPr>
          <a:xfrm flipH="1">
            <a:off x="6400800" y="5687568"/>
            <a:ext cx="1188720" cy="0"/>
          </a:xfrm>
          <a:prstGeom prst="line">
            <a:avLst/>
          </a:prstGeom>
          <a:ln w="19050">
            <a:solidFill>
              <a:srgbClr val="D9730D"/>
            </a:solidFill>
            <a:tailEnd type="triangle" w="med" len="med"/>
          </a:ln>
        </p:spPr>
        <p:txBody>
          <a:bodyPr/>
          <a:lstStyle/>
          <a:p>
            <a:endParaRPr lang="en-US"/>
          </a:p>
        </p:txBody>
      </p:sp>
      <p:sp>
        <p:nvSpPr>
          <p:cNvPr id="43" name="TextBox 42">
            <a:extLst>
              <a:ext uri="{FF2B5EF4-FFF2-40B4-BE49-F238E27FC236}">
                <a16:creationId xmlns:a16="http://schemas.microsoft.com/office/drawing/2014/main" id="{0EE5ADFB-A040-489A-AD43-C3E03735F248}"/>
              </a:ext>
            </a:extLst>
          </p:cNvPr>
          <p:cNvSpPr>
            <a:spLocks noGrp="1"/>
          </p:cNvSpPr>
          <p:nvPr/>
        </p:nvSpPr>
        <p:spPr>
          <a:xfrm>
            <a:off x="6419088" y="5440679"/>
            <a:ext cx="1152144" cy="201168"/>
          </a:xfrm>
          <a:prstGeom prst="rect">
            <a:avLst/>
          </a:prstGeom>
          <a:noFill/>
        </p:spPr>
        <p:txBody>
          <a:bodyPr wrap="square" lIns="0" tIns="0" rIns="0" bIns="0" anchor="ctr">
            <a:noAutofit/>
          </a:bodyPr>
          <a:lstStyle/>
          <a:p>
            <a:pPr marL="0" indent="0" algn="ctr">
              <a:buNone/>
            </a:pPr>
            <a:r>
              <a:rPr sz="900" b="0" i="0">
                <a:solidFill>
                  <a:srgbClr val="D9730D"/>
                </a:solidFill>
                <a:latin typeface="Calibri"/>
                <a:ea typeface="Calibri"/>
                <a:cs typeface="Calibri"/>
              </a:rPr>
              <a:t>V_BAT</a:t>
            </a:r>
          </a:p>
        </p:txBody>
      </p:sp>
      <p:sp>
        <p:nvSpPr>
          <p:cNvPr id="44" name="Connector 43">
            <a:extLst>
              <a:ext uri="{FF2B5EF4-FFF2-40B4-BE49-F238E27FC236}">
                <a16:creationId xmlns:a16="http://schemas.microsoft.com/office/drawing/2014/main" id="{E1E37F81-6957-456C-B459-1BDFC279BC68}"/>
              </a:ext>
            </a:extLst>
          </p:cNvPr>
          <p:cNvSpPr>
            <a:spLocks noGrp="1"/>
          </p:cNvSpPr>
          <p:nvPr/>
        </p:nvSpPr>
        <p:spPr>
          <a:xfrm flipV="1">
            <a:off x="8549640" y="5084064"/>
            <a:ext cx="0" cy="329184"/>
          </a:xfrm>
          <a:prstGeom prst="line">
            <a:avLst/>
          </a:prstGeom>
          <a:ln w="19050">
            <a:solidFill>
              <a:srgbClr val="D9730D"/>
            </a:solidFill>
            <a:tailEnd type="triangle" w="med" len="med"/>
          </a:ln>
        </p:spPr>
        <p:txBody>
          <a:bodyPr/>
          <a:lstStyle/>
          <a:p>
            <a:endParaRPr lang="en-US"/>
          </a:p>
        </p:txBody>
      </p:sp>
      <p:sp>
        <p:nvSpPr>
          <p:cNvPr id="45" name="TextBox 44">
            <a:extLst>
              <a:ext uri="{FF2B5EF4-FFF2-40B4-BE49-F238E27FC236}">
                <a16:creationId xmlns:a16="http://schemas.microsoft.com/office/drawing/2014/main" id="{46E618E7-D950-4974-86AF-0E3AEC510229}"/>
              </a:ext>
            </a:extLst>
          </p:cNvPr>
          <p:cNvSpPr>
            <a:spLocks noGrp="1"/>
          </p:cNvSpPr>
          <p:nvPr/>
        </p:nvSpPr>
        <p:spPr>
          <a:xfrm>
            <a:off x="8622792" y="5138927"/>
            <a:ext cx="1188720" cy="201168"/>
          </a:xfrm>
          <a:prstGeom prst="rect">
            <a:avLst/>
          </a:prstGeom>
          <a:noFill/>
        </p:spPr>
        <p:txBody>
          <a:bodyPr wrap="square" lIns="0" tIns="0" rIns="0" bIns="0" anchor="ctr">
            <a:noAutofit/>
          </a:bodyPr>
          <a:lstStyle/>
          <a:p>
            <a:pPr marL="0" indent="0" algn="l">
              <a:buNone/>
            </a:pPr>
            <a:r>
              <a:rPr sz="900" b="0" i="0">
                <a:solidFill>
                  <a:srgbClr val="D9730D"/>
                </a:solidFill>
                <a:latin typeface="Calibri"/>
                <a:ea typeface="Calibri"/>
                <a:cs typeface="Calibri"/>
              </a:rPr>
              <a:t>VM (motor supply)</a:t>
            </a:r>
          </a:p>
        </p:txBody>
      </p:sp>
      <p:sp>
        <p:nvSpPr>
          <p:cNvPr id="46" name="Connector 45">
            <a:extLst>
              <a:ext uri="{FF2B5EF4-FFF2-40B4-BE49-F238E27FC236}">
                <a16:creationId xmlns:a16="http://schemas.microsoft.com/office/drawing/2014/main" id="{87A1C681-EF6D-4ED4-BAE3-BCB18541D2B7}"/>
              </a:ext>
            </a:extLst>
          </p:cNvPr>
          <p:cNvSpPr>
            <a:spLocks noGrp="1"/>
          </p:cNvSpPr>
          <p:nvPr/>
        </p:nvSpPr>
        <p:spPr>
          <a:xfrm>
            <a:off x="502920" y="5532120"/>
            <a:ext cx="502920" cy="0"/>
          </a:xfrm>
          <a:prstGeom prst="line">
            <a:avLst/>
          </a:prstGeom>
          <a:ln w="19050">
            <a:solidFill>
              <a:srgbClr val="5A5A6E"/>
            </a:solidFill>
          </a:ln>
        </p:spPr>
        <p:txBody>
          <a:bodyPr/>
          <a:lstStyle/>
          <a:p>
            <a:endParaRPr lang="en-US"/>
          </a:p>
        </p:txBody>
      </p:sp>
      <p:sp>
        <p:nvSpPr>
          <p:cNvPr id="47" name="TextBox 46">
            <a:extLst>
              <a:ext uri="{FF2B5EF4-FFF2-40B4-BE49-F238E27FC236}">
                <a16:creationId xmlns:a16="http://schemas.microsoft.com/office/drawing/2014/main" id="{21841CDE-C92F-46ED-841A-D9A395155D18}"/>
              </a:ext>
            </a:extLst>
          </p:cNvPr>
          <p:cNvSpPr>
            <a:spLocks noGrp="1"/>
          </p:cNvSpPr>
          <p:nvPr/>
        </p:nvSpPr>
        <p:spPr>
          <a:xfrm>
            <a:off x="1115568" y="5431536"/>
            <a:ext cx="1554480" cy="201168"/>
          </a:xfrm>
          <a:prstGeom prst="rect">
            <a:avLst/>
          </a:prstGeom>
          <a:noFill/>
        </p:spPr>
        <p:txBody>
          <a:bodyPr wrap="square" lIns="0" tIns="0" rIns="0" bIns="0" anchor="ctr">
            <a:noAutofit/>
          </a:bodyPr>
          <a:lstStyle/>
          <a:p>
            <a:pPr marL="0" indent="0" algn="l">
              <a:buNone/>
            </a:pPr>
            <a:r>
              <a:rPr sz="1000" b="0" i="0">
                <a:solidFill>
                  <a:srgbClr val="1A1A2E"/>
                </a:solidFill>
                <a:latin typeface="Calibri"/>
                <a:ea typeface="Calibri"/>
                <a:cs typeface="Calibri"/>
              </a:rPr>
              <a:t>Data / control</a:t>
            </a:r>
          </a:p>
        </p:txBody>
      </p:sp>
      <p:sp>
        <p:nvSpPr>
          <p:cNvPr id="48" name="Connector 47">
            <a:extLst>
              <a:ext uri="{FF2B5EF4-FFF2-40B4-BE49-F238E27FC236}">
                <a16:creationId xmlns:a16="http://schemas.microsoft.com/office/drawing/2014/main" id="{706F61CF-2CDE-4E7F-A653-48C0EAC370EC}"/>
              </a:ext>
            </a:extLst>
          </p:cNvPr>
          <p:cNvSpPr>
            <a:spLocks noGrp="1"/>
          </p:cNvSpPr>
          <p:nvPr/>
        </p:nvSpPr>
        <p:spPr>
          <a:xfrm>
            <a:off x="502920" y="5751576"/>
            <a:ext cx="502920" cy="0"/>
          </a:xfrm>
          <a:prstGeom prst="line">
            <a:avLst/>
          </a:prstGeom>
          <a:ln w="19050">
            <a:solidFill>
              <a:srgbClr val="3D5AFE"/>
            </a:solidFill>
            <a:prstDash val="dash"/>
          </a:ln>
        </p:spPr>
        <p:txBody>
          <a:bodyPr/>
          <a:lstStyle/>
          <a:p>
            <a:endParaRPr lang="en-US"/>
          </a:p>
        </p:txBody>
      </p:sp>
      <p:sp>
        <p:nvSpPr>
          <p:cNvPr id="49" name="TextBox 48">
            <a:extLst>
              <a:ext uri="{FF2B5EF4-FFF2-40B4-BE49-F238E27FC236}">
                <a16:creationId xmlns:a16="http://schemas.microsoft.com/office/drawing/2014/main" id="{B30E9F65-3BF2-420F-9986-9D3A08E8D693}"/>
              </a:ext>
            </a:extLst>
          </p:cNvPr>
          <p:cNvSpPr>
            <a:spLocks noGrp="1"/>
          </p:cNvSpPr>
          <p:nvPr/>
        </p:nvSpPr>
        <p:spPr>
          <a:xfrm>
            <a:off x="1115568" y="5650992"/>
            <a:ext cx="1554480" cy="201168"/>
          </a:xfrm>
          <a:prstGeom prst="rect">
            <a:avLst/>
          </a:prstGeom>
          <a:noFill/>
        </p:spPr>
        <p:txBody>
          <a:bodyPr wrap="square" lIns="0" tIns="0" rIns="0" bIns="0" anchor="ctr">
            <a:noAutofit/>
          </a:bodyPr>
          <a:lstStyle/>
          <a:p>
            <a:pPr marL="0" indent="0" algn="l">
              <a:buNone/>
            </a:pPr>
            <a:r>
              <a:rPr sz="1000" b="0" i="0">
                <a:solidFill>
                  <a:srgbClr val="1A1A2E"/>
                </a:solidFill>
                <a:latin typeface="Calibri"/>
                <a:ea typeface="Calibri"/>
                <a:cs typeface="Calibri"/>
              </a:rPr>
              <a:t>Wireless link</a:t>
            </a:r>
          </a:p>
        </p:txBody>
      </p:sp>
      <p:sp>
        <p:nvSpPr>
          <p:cNvPr id="50" name="Connector 49">
            <a:extLst>
              <a:ext uri="{FF2B5EF4-FFF2-40B4-BE49-F238E27FC236}">
                <a16:creationId xmlns:a16="http://schemas.microsoft.com/office/drawing/2014/main" id="{FC440BBD-E98B-4A43-9559-55304BEC7EE1}"/>
              </a:ext>
            </a:extLst>
          </p:cNvPr>
          <p:cNvSpPr>
            <a:spLocks noGrp="1"/>
          </p:cNvSpPr>
          <p:nvPr/>
        </p:nvSpPr>
        <p:spPr>
          <a:xfrm>
            <a:off x="502920" y="5971031"/>
            <a:ext cx="502920" cy="0"/>
          </a:xfrm>
          <a:prstGeom prst="line">
            <a:avLst/>
          </a:prstGeom>
          <a:ln w="19050">
            <a:solidFill>
              <a:srgbClr val="D9730D"/>
            </a:solidFill>
          </a:ln>
        </p:spPr>
        <p:txBody>
          <a:bodyPr/>
          <a:lstStyle/>
          <a:p>
            <a:endParaRPr lang="en-US"/>
          </a:p>
        </p:txBody>
      </p:sp>
      <p:sp>
        <p:nvSpPr>
          <p:cNvPr id="51" name="TextBox 50">
            <a:extLst>
              <a:ext uri="{FF2B5EF4-FFF2-40B4-BE49-F238E27FC236}">
                <a16:creationId xmlns:a16="http://schemas.microsoft.com/office/drawing/2014/main" id="{1BFC9C75-47E6-4813-A2A8-1F3A2010860C}"/>
              </a:ext>
            </a:extLst>
          </p:cNvPr>
          <p:cNvSpPr>
            <a:spLocks noGrp="1"/>
          </p:cNvSpPr>
          <p:nvPr/>
        </p:nvSpPr>
        <p:spPr>
          <a:xfrm>
            <a:off x="1115568" y="5870447"/>
            <a:ext cx="1554480" cy="201168"/>
          </a:xfrm>
          <a:prstGeom prst="rect">
            <a:avLst/>
          </a:prstGeom>
          <a:noFill/>
        </p:spPr>
        <p:txBody>
          <a:bodyPr wrap="square" lIns="0" tIns="0" rIns="0" bIns="0" anchor="ctr">
            <a:noAutofit/>
          </a:bodyPr>
          <a:lstStyle/>
          <a:p>
            <a:pPr marL="0" indent="0" algn="l">
              <a:buNone/>
            </a:pPr>
            <a:r>
              <a:rPr sz="1000" b="0" i="0">
                <a:solidFill>
                  <a:srgbClr val="1A1A2E"/>
                </a:solidFill>
                <a:latin typeface="Calibri"/>
                <a:ea typeface="Calibri"/>
                <a:cs typeface="Calibri"/>
              </a:rPr>
              <a:t>Power</a:t>
            </a:r>
          </a:p>
        </p:txBody>
      </p:sp>
      <p:sp>
        <p:nvSpPr>
          <p:cNvPr id="52" name="TextBox 51">
            <a:extLst>
              <a:ext uri="{FF2B5EF4-FFF2-40B4-BE49-F238E27FC236}">
                <a16:creationId xmlns:a16="http://schemas.microsoft.com/office/drawing/2014/main" id="{7EE75634-C712-4CD0-AF1B-B14E2B1F5424}"/>
              </a:ext>
            </a:extLst>
          </p:cNvPr>
          <p:cNvSpPr>
            <a:spLocks noGrp="1"/>
          </p:cNvSpPr>
          <p:nvPr/>
        </p:nvSpPr>
        <p:spPr>
          <a:xfrm>
            <a:off x="2926080" y="6089904"/>
            <a:ext cx="6355080" cy="256032"/>
          </a:xfrm>
          <a:prstGeom prst="rect">
            <a:avLst/>
          </a:prstGeom>
          <a:noFill/>
        </p:spPr>
        <p:txBody>
          <a:bodyPr wrap="square" lIns="0" tIns="0" rIns="0" bIns="0" anchor="ctr">
            <a:noAutofit/>
          </a:bodyPr>
          <a:lstStyle/>
          <a:p>
            <a:pPr marL="0" indent="0" algn="ctr">
              <a:buNone/>
            </a:pPr>
            <a:r>
              <a:rPr sz="1050" b="0" i="1">
                <a:solidFill>
                  <a:srgbClr val="5A5A6E"/>
                </a:solidFill>
                <a:latin typeface="Calibri"/>
                <a:ea typeface="Calibri"/>
                <a:cs typeface="Calibri"/>
              </a:rPr>
              <a:t>Fig. 1: System block diagram showing the interface used between each module</a:t>
            </a:r>
          </a:p>
        </p:txBody>
      </p:sp>
    </p:spTree>
    <p:extLst>
      <p:ext uri="{BB962C8B-B14F-4D97-AF65-F5344CB8AC3E}">
        <p14:creationId xmlns:p14="http://schemas.microsoft.com/office/powerpoint/2010/main" val="186046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1FFCCFE6-FF9F-43FF-8344-92D1552387F9}"/>
              </a:ext>
            </a:extLst>
          </p:cNvPr>
          <p:cNvSpPr>
            <a:spLocks noGrp="1"/>
          </p:cNvSpPr>
          <p:nvPr/>
        </p:nvSpPr>
        <p:spPr>
          <a:xfrm>
            <a:off x="457200" y="200025"/>
            <a:ext cx="10420350" cy="323850"/>
          </a:xfrm>
          <a:prstGeom prst="rect">
            <a:avLst/>
          </a:prstGeom>
          <a:noFill/>
          <a:ln w="0">
            <a:noFill/>
          </a:ln>
        </p:spPr>
        <p:txBody>
          <a:bodyPr>
            <a:noAutofit/>
          </a:bodyPr>
          <a:lstStyle/>
          <a:p>
            <a:pPr>
              <a:buNone/>
              <a:defRPr sz="1050" b="1">
                <a:solidFill>
                  <a:srgbClr val="5A5A6E"/>
                </a:solidFill>
                <a:latin typeface="Calibri"/>
                <a:ea typeface="Calibri"/>
                <a:cs typeface="Calibri"/>
              </a:defRPr>
            </a:pPr>
            <a:r>
              <a:rPr sz="1050" b="1">
                <a:solidFill>
                  <a:srgbClr val="5A5A6E"/>
                </a:solidFill>
                <a:latin typeface="Calibri"/>
                <a:ea typeface="Calibri"/>
                <a:cs typeface="Calibri"/>
              </a:rPr>
              <a:t>21ECC301P - MICROPROCESSOR, MICROCONTROLLER, AND INTERFACING TECHNIQUES</a:t>
            </a:r>
          </a:p>
        </p:txBody>
      </p:sp>
      <p:sp>
        <p:nvSpPr>
          <p:cNvPr id="2" name="Rectangle 1">
            <a:extLst>
              <a:ext uri="{FF2B5EF4-FFF2-40B4-BE49-F238E27FC236}">
                <a16:creationId xmlns:a16="http://schemas.microsoft.com/office/drawing/2014/main" id="{58367424-063F-41DC-9DE2-52A1DD73AF41}"/>
              </a:ext>
            </a:extLst>
          </p:cNvPr>
          <p:cNvSpPr>
            <a:spLocks noGrp="1"/>
          </p:cNvSpPr>
          <p:nvPr/>
        </p:nvSpPr>
        <p:spPr>
          <a:xfrm>
            <a:off x="457200" y="571500"/>
            <a:ext cx="10668000" cy="571500"/>
          </a:xfrm>
          <a:prstGeom prst="rect">
            <a:avLst/>
          </a:prstGeom>
          <a:noFill/>
          <a:ln w="0">
            <a:noFill/>
          </a:ln>
        </p:spPr>
        <p:txBody>
          <a:bodyPr>
            <a:noAutofit/>
          </a:bodyPr>
          <a:lstStyle/>
          <a:p>
            <a:pPr>
              <a:buNone/>
              <a:defRPr sz="3000" b="1">
                <a:solidFill>
                  <a:srgbClr val="1E2761"/>
                </a:solidFill>
                <a:latin typeface="Cambria"/>
                <a:ea typeface="Cambria"/>
                <a:cs typeface="Cambria"/>
              </a:defRPr>
            </a:pPr>
            <a:r>
              <a:rPr sz="3000" b="1">
                <a:solidFill>
                  <a:srgbClr val="1E2761"/>
                </a:solidFill>
                <a:latin typeface="Cambria"/>
                <a:ea typeface="Cambria"/>
                <a:cs typeface="Cambria"/>
              </a:rPr>
              <a:t>PROPOSED INTEGRATION SCHEMATIC</a:t>
            </a:r>
          </a:p>
        </p:txBody>
      </p:sp>
      <p:sp>
        <p:nvSpPr>
          <p:cNvPr id="3" name="Rectangle 2">
            <a:extLst>
              <a:ext uri="{FF2B5EF4-FFF2-40B4-BE49-F238E27FC236}">
                <a16:creationId xmlns:a16="http://schemas.microsoft.com/office/drawing/2014/main" id="{21D70A88-22FD-44C6-9E9D-E6FBD6C2D0B9}"/>
              </a:ext>
            </a:extLst>
          </p:cNvPr>
          <p:cNvSpPr>
            <a:spLocks noGrp="1"/>
          </p:cNvSpPr>
          <p:nvPr/>
        </p:nvSpPr>
        <p:spPr>
          <a:xfrm>
            <a:off x="11525250" y="6438900"/>
            <a:ext cx="457200" cy="32385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12</a:t>
            </a:r>
          </a:p>
        </p:txBody>
      </p:sp>
      <p:pic>
        <p:nvPicPr>
          <p:cNvPr id="39" name="Picture 38"/>
          <p:cNvPicPr>
            <a:picLocks noChangeAspect="1"/>
          </p:cNvPicPr>
          <p:nvPr/>
        </p:nvPicPr>
        <p:blipFill>
          <a:blip r:embed="rId3"/>
          <a:stretch/>
        </p:blipFill>
        <p:spPr>
          <a:xfrm>
            <a:off x="11177543" y="266700"/>
            <a:ext cx="552540" cy="409575"/>
          </a:xfrm>
          <a:prstGeom prst="rect">
            <a:avLst/>
          </a:prstGeom>
        </p:spPr>
      </p:pic>
      <p:sp>
        <p:nvSpPr>
          <p:cNvPr id="5" name="Rectangle 4">
            <a:extLst>
              <a:ext uri="{FF2B5EF4-FFF2-40B4-BE49-F238E27FC236}">
                <a16:creationId xmlns:a16="http://schemas.microsoft.com/office/drawing/2014/main" id="{8E1546ED-E7B2-43BA-ACD2-14D0F9DBBFA3}"/>
              </a:ext>
            </a:extLst>
          </p:cNvPr>
          <p:cNvSpPr>
            <a:spLocks noGrp="1"/>
          </p:cNvSpPr>
          <p:nvPr/>
        </p:nvSpPr>
        <p:spPr>
          <a:xfrm>
            <a:off x="457200" y="1200150"/>
            <a:ext cx="11239500" cy="285750"/>
          </a:xfrm>
          <a:prstGeom prst="rect">
            <a:avLst/>
          </a:prstGeom>
          <a:noFill/>
          <a:ln w="0">
            <a:noFill/>
          </a:ln>
        </p:spPr>
        <p:txBody>
          <a:bodyPr>
            <a:noAutofit/>
          </a:bodyPr>
          <a:lstStyle/>
          <a:p>
            <a:pPr>
              <a:buNone/>
              <a:defRPr sz="1500" b="0">
                <a:solidFill>
                  <a:srgbClr val="5A5A6E"/>
                </a:solidFill>
                <a:latin typeface="Calibri"/>
                <a:ea typeface="Calibri"/>
                <a:cs typeface="Calibri"/>
              </a:defRPr>
            </a:pPr>
            <a:r>
              <a:rPr sz="1500" b="0">
                <a:solidFill>
                  <a:srgbClr val="5A5A6E"/>
                </a:solidFill>
                <a:latin typeface="Calibri"/>
                <a:ea typeface="Calibri"/>
                <a:cs typeface="Calibri"/>
              </a:rPr>
              <a:t>Signal connections and power distribution</a:t>
            </a:r>
          </a:p>
        </p:txBody>
      </p:sp>
      <p:sp>
        <p:nvSpPr>
          <p:cNvPr id="6" name="Rectangle 5">
            <a:extLst>
              <a:ext uri="{FF2B5EF4-FFF2-40B4-BE49-F238E27FC236}">
                <a16:creationId xmlns:a16="http://schemas.microsoft.com/office/drawing/2014/main" id="{73FC216C-DCB2-49F3-B250-AE68D8F53CDE}"/>
              </a:ext>
            </a:extLst>
          </p:cNvPr>
          <p:cNvSpPr>
            <a:spLocks noGrp="1"/>
          </p:cNvSpPr>
          <p:nvPr/>
        </p:nvSpPr>
        <p:spPr>
          <a:xfrm>
            <a:off x="4762500" y="1733550"/>
            <a:ext cx="2343150" cy="3619500"/>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STM32F103C8T6</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Blue Pill</a:t>
            </a:r>
          </a:p>
          <a:p>
            <a:endParaRPr sz="1350">
              <a:solidFill>
                <a:srgbClr val="1E2761"/>
              </a:solidFill>
              <a:latin typeface="Calibri"/>
              <a:ea typeface="Calibri"/>
              <a:cs typeface="Calibri"/>
            </a:endParaRP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GPIO capture</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Timer / DMA</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UART</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I2C</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Encoder inputs</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PWM + direction</a:t>
            </a:r>
          </a:p>
        </p:txBody>
      </p:sp>
      <p:sp>
        <p:nvSpPr>
          <p:cNvPr id="7" name="Rectangle 6">
            <a:extLst>
              <a:ext uri="{FF2B5EF4-FFF2-40B4-BE49-F238E27FC236}">
                <a16:creationId xmlns:a16="http://schemas.microsoft.com/office/drawing/2014/main" id="{57491827-E069-4ACC-8D0E-222C60053BBE}"/>
              </a:ext>
            </a:extLst>
          </p:cNvPr>
          <p:cNvSpPr>
            <a:spLocks noGrp="1"/>
          </p:cNvSpPr>
          <p:nvPr/>
        </p:nvSpPr>
        <p:spPr>
          <a:xfrm>
            <a:off x="457200" y="1733550"/>
            <a:ext cx="22669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Probe header</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UART / GPIO / PWM</a:t>
            </a:r>
          </a:p>
        </p:txBody>
      </p:sp>
      <p:sp>
        <p:nvSpPr>
          <p:cNvPr id="8" name="Straight Connector 7">
            <a:extLst>
              <a:ext uri="{FF2B5EF4-FFF2-40B4-BE49-F238E27FC236}">
                <a16:creationId xmlns:a16="http://schemas.microsoft.com/office/drawing/2014/main" id="{3E54C0E0-3A2A-420A-8E50-BA17AA4ADFE2}"/>
              </a:ext>
            </a:extLst>
          </p:cNvPr>
          <p:cNvSpPr>
            <a:spLocks noGrp="1"/>
          </p:cNvSpPr>
          <p:nvPr/>
        </p:nvSpPr>
        <p:spPr>
          <a:xfrm>
            <a:off x="2724150" y="2057400"/>
            <a:ext cx="2038350" cy="0"/>
          </a:xfrm>
          <a:prstGeom prst="line">
            <a:avLst/>
          </a:prstGeom>
          <a:noFill/>
          <a:ln w="15240">
            <a:solidFill>
              <a:srgbClr val="5A5A6E"/>
            </a:solidFill>
          </a:ln>
        </p:spPr>
        <p:txBody>
          <a:bodyPr/>
          <a:lstStyle/>
          <a:p>
            <a:endParaRPr lang="en-US"/>
          </a:p>
        </p:txBody>
      </p:sp>
      <p:sp>
        <p:nvSpPr>
          <p:cNvPr id="9" name="Rectangle 8">
            <a:extLst>
              <a:ext uri="{FF2B5EF4-FFF2-40B4-BE49-F238E27FC236}">
                <a16:creationId xmlns:a16="http://schemas.microsoft.com/office/drawing/2014/main" id="{DFFCA20F-1157-4FE1-A4F9-FCBB65903FA9}"/>
              </a:ext>
            </a:extLst>
          </p:cNvPr>
          <p:cNvSpPr>
            <a:spLocks noGrp="1"/>
          </p:cNvSpPr>
          <p:nvPr/>
        </p:nvSpPr>
        <p:spPr>
          <a:xfrm>
            <a:off x="2819400" y="1733550"/>
            <a:ext cx="1905000" cy="26670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Input protection / level shift</a:t>
            </a:r>
          </a:p>
        </p:txBody>
      </p:sp>
      <p:sp>
        <p:nvSpPr>
          <p:cNvPr id="10" name="Rectangle 9">
            <a:extLst>
              <a:ext uri="{FF2B5EF4-FFF2-40B4-BE49-F238E27FC236}">
                <a16:creationId xmlns:a16="http://schemas.microsoft.com/office/drawing/2014/main" id="{4EFEABED-5BC7-4B45-83C0-FB3AE44C5416}"/>
              </a:ext>
            </a:extLst>
          </p:cNvPr>
          <p:cNvSpPr>
            <a:spLocks noGrp="1"/>
          </p:cNvSpPr>
          <p:nvPr/>
        </p:nvSpPr>
        <p:spPr>
          <a:xfrm>
            <a:off x="457200" y="2686050"/>
            <a:ext cx="22669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MPU6050</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SCL / SDA</a:t>
            </a:r>
          </a:p>
        </p:txBody>
      </p:sp>
      <p:sp>
        <p:nvSpPr>
          <p:cNvPr id="11" name="Straight Connector 10">
            <a:extLst>
              <a:ext uri="{FF2B5EF4-FFF2-40B4-BE49-F238E27FC236}">
                <a16:creationId xmlns:a16="http://schemas.microsoft.com/office/drawing/2014/main" id="{9E19A13B-2592-4853-809E-CE345F5DD490}"/>
              </a:ext>
            </a:extLst>
          </p:cNvPr>
          <p:cNvSpPr>
            <a:spLocks noGrp="1"/>
          </p:cNvSpPr>
          <p:nvPr/>
        </p:nvSpPr>
        <p:spPr>
          <a:xfrm>
            <a:off x="2724150" y="3000375"/>
            <a:ext cx="2038350" cy="0"/>
          </a:xfrm>
          <a:prstGeom prst="line">
            <a:avLst/>
          </a:prstGeom>
          <a:noFill/>
          <a:ln w="15240">
            <a:solidFill>
              <a:srgbClr val="5A5A6E"/>
            </a:solidFill>
          </a:ln>
        </p:spPr>
        <p:txBody>
          <a:bodyPr/>
          <a:lstStyle/>
          <a:p>
            <a:endParaRPr lang="en-US"/>
          </a:p>
        </p:txBody>
      </p:sp>
      <p:sp>
        <p:nvSpPr>
          <p:cNvPr id="12" name="Rectangle 11">
            <a:extLst>
              <a:ext uri="{FF2B5EF4-FFF2-40B4-BE49-F238E27FC236}">
                <a16:creationId xmlns:a16="http://schemas.microsoft.com/office/drawing/2014/main" id="{6015D5F0-A8E4-43A8-9B82-DA618E64A6A1}"/>
              </a:ext>
            </a:extLst>
          </p:cNvPr>
          <p:cNvSpPr>
            <a:spLocks noGrp="1"/>
          </p:cNvSpPr>
          <p:nvPr/>
        </p:nvSpPr>
        <p:spPr>
          <a:xfrm>
            <a:off x="2819400" y="2705100"/>
            <a:ext cx="1905000" cy="24765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I2C + pull-ups to 3.3 V</a:t>
            </a:r>
          </a:p>
        </p:txBody>
      </p:sp>
      <p:sp>
        <p:nvSpPr>
          <p:cNvPr id="13" name="Rectangle 12">
            <a:extLst>
              <a:ext uri="{FF2B5EF4-FFF2-40B4-BE49-F238E27FC236}">
                <a16:creationId xmlns:a16="http://schemas.microsoft.com/office/drawing/2014/main" id="{7216A47E-CB3B-43EE-A0FC-7F8B58D646E3}"/>
              </a:ext>
            </a:extLst>
          </p:cNvPr>
          <p:cNvSpPr>
            <a:spLocks noGrp="1"/>
          </p:cNvSpPr>
          <p:nvPr/>
        </p:nvSpPr>
        <p:spPr>
          <a:xfrm>
            <a:off x="457200" y="3638550"/>
            <a:ext cx="22669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HC-SR04</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TRIG / ECHO</a:t>
            </a:r>
          </a:p>
        </p:txBody>
      </p:sp>
      <p:sp>
        <p:nvSpPr>
          <p:cNvPr id="14" name="Straight Connector 13">
            <a:extLst>
              <a:ext uri="{FF2B5EF4-FFF2-40B4-BE49-F238E27FC236}">
                <a16:creationId xmlns:a16="http://schemas.microsoft.com/office/drawing/2014/main" id="{3C03362B-1737-4701-B469-78699506018C}"/>
              </a:ext>
            </a:extLst>
          </p:cNvPr>
          <p:cNvSpPr>
            <a:spLocks noGrp="1"/>
          </p:cNvSpPr>
          <p:nvPr/>
        </p:nvSpPr>
        <p:spPr>
          <a:xfrm>
            <a:off x="2724150" y="3952875"/>
            <a:ext cx="2038350" cy="0"/>
          </a:xfrm>
          <a:prstGeom prst="line">
            <a:avLst/>
          </a:prstGeom>
          <a:noFill/>
          <a:ln w="15240">
            <a:solidFill>
              <a:srgbClr val="5A5A6E"/>
            </a:solidFill>
          </a:ln>
        </p:spPr>
        <p:txBody>
          <a:bodyPr/>
          <a:lstStyle/>
          <a:p>
            <a:endParaRPr lang="en-US"/>
          </a:p>
        </p:txBody>
      </p:sp>
      <p:sp>
        <p:nvSpPr>
          <p:cNvPr id="15" name="Rectangle 14">
            <a:extLst>
              <a:ext uri="{FF2B5EF4-FFF2-40B4-BE49-F238E27FC236}">
                <a16:creationId xmlns:a16="http://schemas.microsoft.com/office/drawing/2014/main" id="{7C0F912F-3275-40A8-B890-9545686C47AC}"/>
              </a:ext>
            </a:extLst>
          </p:cNvPr>
          <p:cNvSpPr>
            <a:spLocks noGrp="1"/>
          </p:cNvSpPr>
          <p:nvPr/>
        </p:nvSpPr>
        <p:spPr>
          <a:xfrm>
            <a:off x="2819400" y="3657600"/>
            <a:ext cx="1905000" cy="26670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ECHO level shift to 3.3 V</a:t>
            </a:r>
          </a:p>
        </p:txBody>
      </p:sp>
      <p:sp>
        <p:nvSpPr>
          <p:cNvPr id="16" name="Rectangle 15">
            <a:extLst>
              <a:ext uri="{FF2B5EF4-FFF2-40B4-BE49-F238E27FC236}">
                <a16:creationId xmlns:a16="http://schemas.microsoft.com/office/drawing/2014/main" id="{F0EFAD85-4F21-4E38-9BC9-BB24B935B85B}"/>
              </a:ext>
            </a:extLst>
          </p:cNvPr>
          <p:cNvSpPr>
            <a:spLocks noGrp="1"/>
          </p:cNvSpPr>
          <p:nvPr/>
        </p:nvSpPr>
        <p:spPr>
          <a:xfrm>
            <a:off x="457200" y="4591050"/>
            <a:ext cx="22669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Wheel encoders</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Left A/B + right A/B</a:t>
            </a:r>
          </a:p>
        </p:txBody>
      </p:sp>
      <p:sp>
        <p:nvSpPr>
          <p:cNvPr id="17" name="Straight Connector 16">
            <a:extLst>
              <a:ext uri="{FF2B5EF4-FFF2-40B4-BE49-F238E27FC236}">
                <a16:creationId xmlns:a16="http://schemas.microsoft.com/office/drawing/2014/main" id="{C657015B-62F7-44E1-8D6A-DDA71580007A}"/>
              </a:ext>
            </a:extLst>
          </p:cNvPr>
          <p:cNvSpPr>
            <a:spLocks noGrp="1"/>
          </p:cNvSpPr>
          <p:nvPr/>
        </p:nvSpPr>
        <p:spPr>
          <a:xfrm>
            <a:off x="2724150" y="4905375"/>
            <a:ext cx="2038350" cy="0"/>
          </a:xfrm>
          <a:prstGeom prst="line">
            <a:avLst/>
          </a:prstGeom>
          <a:noFill/>
          <a:ln w="15240">
            <a:solidFill>
              <a:srgbClr val="5A5A6E"/>
            </a:solidFill>
          </a:ln>
        </p:spPr>
        <p:txBody>
          <a:bodyPr/>
          <a:lstStyle/>
          <a:p>
            <a:endParaRPr lang="en-US"/>
          </a:p>
        </p:txBody>
      </p:sp>
      <p:sp>
        <p:nvSpPr>
          <p:cNvPr id="18" name="Rectangle 17">
            <a:extLst>
              <a:ext uri="{FF2B5EF4-FFF2-40B4-BE49-F238E27FC236}">
                <a16:creationId xmlns:a16="http://schemas.microsoft.com/office/drawing/2014/main" id="{F3D5EDD6-8D37-463B-A980-F5AE388EB9F1}"/>
              </a:ext>
            </a:extLst>
          </p:cNvPr>
          <p:cNvSpPr>
            <a:spLocks noGrp="1"/>
          </p:cNvSpPr>
          <p:nvPr/>
        </p:nvSpPr>
        <p:spPr>
          <a:xfrm>
            <a:off x="2819400" y="4610100"/>
            <a:ext cx="1905000" cy="26670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Four digital pulse inputs</a:t>
            </a:r>
          </a:p>
        </p:txBody>
      </p:sp>
      <p:sp>
        <p:nvSpPr>
          <p:cNvPr id="19" name="Rectangle 18">
            <a:extLst>
              <a:ext uri="{FF2B5EF4-FFF2-40B4-BE49-F238E27FC236}">
                <a16:creationId xmlns:a16="http://schemas.microsoft.com/office/drawing/2014/main" id="{9A860343-5284-4E0B-8D81-B8712DCB6667}"/>
              </a:ext>
            </a:extLst>
          </p:cNvPr>
          <p:cNvSpPr>
            <a:spLocks noGrp="1"/>
          </p:cNvSpPr>
          <p:nvPr/>
        </p:nvSpPr>
        <p:spPr>
          <a:xfrm>
            <a:off x="8667750" y="1733550"/>
            <a:ext cx="29527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ESP32</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TX / RX</a:t>
            </a:r>
          </a:p>
        </p:txBody>
      </p:sp>
      <p:sp>
        <p:nvSpPr>
          <p:cNvPr id="20" name="Straight Connector 19">
            <a:extLst>
              <a:ext uri="{FF2B5EF4-FFF2-40B4-BE49-F238E27FC236}">
                <a16:creationId xmlns:a16="http://schemas.microsoft.com/office/drawing/2014/main" id="{B53556DC-E044-451A-A1FB-8DE0A1ACFCA9}"/>
              </a:ext>
            </a:extLst>
          </p:cNvPr>
          <p:cNvSpPr>
            <a:spLocks noGrp="1"/>
          </p:cNvSpPr>
          <p:nvPr/>
        </p:nvSpPr>
        <p:spPr>
          <a:xfrm>
            <a:off x="7105650" y="2057400"/>
            <a:ext cx="1562100" cy="0"/>
          </a:xfrm>
          <a:prstGeom prst="line">
            <a:avLst/>
          </a:prstGeom>
          <a:noFill/>
          <a:ln w="15240">
            <a:solidFill>
              <a:srgbClr val="5A5A6E"/>
            </a:solidFill>
          </a:ln>
        </p:spPr>
        <p:txBody>
          <a:bodyPr/>
          <a:lstStyle/>
          <a:p>
            <a:endParaRPr lang="en-US"/>
          </a:p>
        </p:txBody>
      </p:sp>
      <p:sp>
        <p:nvSpPr>
          <p:cNvPr id="21" name="Rectangle 20">
            <a:extLst>
              <a:ext uri="{FF2B5EF4-FFF2-40B4-BE49-F238E27FC236}">
                <a16:creationId xmlns:a16="http://schemas.microsoft.com/office/drawing/2014/main" id="{D1830127-6195-4614-ADB6-B8E386FA5854}"/>
              </a:ext>
            </a:extLst>
          </p:cNvPr>
          <p:cNvSpPr>
            <a:spLocks noGrp="1"/>
          </p:cNvSpPr>
          <p:nvPr/>
        </p:nvSpPr>
        <p:spPr>
          <a:xfrm>
            <a:off x="7219950" y="1733550"/>
            <a:ext cx="1409700" cy="26670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UART crossover</a:t>
            </a:r>
          </a:p>
        </p:txBody>
      </p:sp>
      <p:sp>
        <p:nvSpPr>
          <p:cNvPr id="22" name="Rectangle 21">
            <a:extLst>
              <a:ext uri="{FF2B5EF4-FFF2-40B4-BE49-F238E27FC236}">
                <a16:creationId xmlns:a16="http://schemas.microsoft.com/office/drawing/2014/main" id="{C4D62E03-6005-430F-95E4-2E177EB321CC}"/>
              </a:ext>
            </a:extLst>
          </p:cNvPr>
          <p:cNvSpPr>
            <a:spLocks noGrp="1"/>
          </p:cNvSpPr>
          <p:nvPr/>
        </p:nvSpPr>
        <p:spPr>
          <a:xfrm>
            <a:off x="8810625" y="2419350"/>
            <a:ext cx="2800350" cy="266700"/>
          </a:xfrm>
          <a:prstGeom prst="rect">
            <a:avLst/>
          </a:prstGeom>
          <a:noFill/>
          <a:ln w="0">
            <a:noFill/>
          </a:ln>
        </p:spPr>
        <p:txBody>
          <a:bodyPr>
            <a:noAutofit/>
          </a:bodyPr>
          <a:lstStyle/>
          <a:p>
            <a:pPr>
              <a:buNone/>
              <a:defRPr sz="1275" b="0">
                <a:solidFill>
                  <a:srgbClr val="3D5AFE"/>
                </a:solidFill>
                <a:latin typeface="Calibri"/>
                <a:ea typeface="Calibri"/>
                <a:cs typeface="Calibri"/>
              </a:defRPr>
            </a:pPr>
            <a:r>
              <a:rPr sz="1275" b="0">
                <a:solidFill>
                  <a:srgbClr val="3D5AFE"/>
                </a:solidFill>
                <a:latin typeface="Calibri"/>
                <a:ea typeface="Calibri"/>
                <a:cs typeface="Calibri"/>
              </a:rPr>
              <a:t>Wi-Fi to Python dashboard</a:t>
            </a:r>
          </a:p>
        </p:txBody>
      </p:sp>
      <p:sp>
        <p:nvSpPr>
          <p:cNvPr id="23" name="Rectangle 22">
            <a:extLst>
              <a:ext uri="{FF2B5EF4-FFF2-40B4-BE49-F238E27FC236}">
                <a16:creationId xmlns:a16="http://schemas.microsoft.com/office/drawing/2014/main" id="{4B481A35-97ED-4DA1-A02E-5C2E7CD3BCCF}"/>
              </a:ext>
            </a:extLst>
          </p:cNvPr>
          <p:cNvSpPr>
            <a:spLocks noGrp="1"/>
          </p:cNvSpPr>
          <p:nvPr/>
        </p:nvSpPr>
        <p:spPr>
          <a:xfrm>
            <a:off x="8667750" y="3352800"/>
            <a:ext cx="29527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TB6612FNG</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PWMA/B, AIN/BIN, STBY</a:t>
            </a:r>
          </a:p>
        </p:txBody>
      </p:sp>
      <p:sp>
        <p:nvSpPr>
          <p:cNvPr id="24" name="Straight Connector 23">
            <a:extLst>
              <a:ext uri="{FF2B5EF4-FFF2-40B4-BE49-F238E27FC236}">
                <a16:creationId xmlns:a16="http://schemas.microsoft.com/office/drawing/2014/main" id="{93173860-B346-4132-B687-0383C8D5E472}"/>
              </a:ext>
            </a:extLst>
          </p:cNvPr>
          <p:cNvSpPr>
            <a:spLocks noGrp="1"/>
          </p:cNvSpPr>
          <p:nvPr/>
        </p:nvSpPr>
        <p:spPr>
          <a:xfrm>
            <a:off x="7105650" y="3667125"/>
            <a:ext cx="1562100" cy="0"/>
          </a:xfrm>
          <a:prstGeom prst="line">
            <a:avLst/>
          </a:prstGeom>
          <a:noFill/>
          <a:ln w="15240">
            <a:solidFill>
              <a:srgbClr val="5A5A6E"/>
            </a:solidFill>
          </a:ln>
        </p:spPr>
        <p:txBody>
          <a:bodyPr/>
          <a:lstStyle/>
          <a:p>
            <a:endParaRPr lang="en-US"/>
          </a:p>
        </p:txBody>
      </p:sp>
      <p:sp>
        <p:nvSpPr>
          <p:cNvPr id="25" name="Rectangle 24">
            <a:extLst>
              <a:ext uri="{FF2B5EF4-FFF2-40B4-BE49-F238E27FC236}">
                <a16:creationId xmlns:a16="http://schemas.microsoft.com/office/drawing/2014/main" id="{799100B9-07FB-4282-AA6C-8D80C4AA2D3E}"/>
              </a:ext>
            </a:extLst>
          </p:cNvPr>
          <p:cNvSpPr>
            <a:spLocks noGrp="1"/>
          </p:cNvSpPr>
          <p:nvPr/>
        </p:nvSpPr>
        <p:spPr>
          <a:xfrm>
            <a:off x="7219950" y="3352800"/>
            <a:ext cx="1409700" cy="26670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PWM + control</a:t>
            </a:r>
          </a:p>
        </p:txBody>
      </p:sp>
      <p:sp>
        <p:nvSpPr>
          <p:cNvPr id="26" name="Rectangle 25">
            <a:extLst>
              <a:ext uri="{FF2B5EF4-FFF2-40B4-BE49-F238E27FC236}">
                <a16:creationId xmlns:a16="http://schemas.microsoft.com/office/drawing/2014/main" id="{4C77CDBF-70E4-446F-80CA-F3A64A07D819}"/>
              </a:ext>
            </a:extLst>
          </p:cNvPr>
          <p:cNvSpPr>
            <a:spLocks noGrp="1"/>
          </p:cNvSpPr>
          <p:nvPr/>
        </p:nvSpPr>
        <p:spPr>
          <a:xfrm>
            <a:off x="8667750" y="4591050"/>
            <a:ext cx="2952750" cy="619125"/>
          </a:xfrm>
          <a:prstGeom prst="rect">
            <a:avLst/>
          </a:prstGeom>
          <a:solidFill>
            <a:srgbClr val="F5F6FC"/>
          </a:solidFill>
          <a:ln w="11430">
            <a:solidFill>
              <a:srgbClr val="1E2761"/>
            </a:solidFill>
          </a:ln>
        </p:spPr>
        <p:txBody>
          <a:bodyPr anchor="ctr">
            <a:noAutofit/>
          </a:bodyPr>
          <a:lstStyle/>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Left motor      Right motor</a:t>
            </a:r>
          </a:p>
          <a:p>
            <a:pPr algn="ctr">
              <a:buNone/>
              <a:defRPr sz="1350">
                <a:solidFill>
                  <a:srgbClr val="1E2761"/>
                </a:solidFill>
                <a:latin typeface="Calibri"/>
                <a:ea typeface="Calibri"/>
                <a:cs typeface="Calibri"/>
              </a:defRPr>
            </a:pPr>
            <a:r>
              <a:rPr sz="1350">
                <a:solidFill>
                  <a:srgbClr val="1E2761"/>
                </a:solidFill>
                <a:latin typeface="Calibri"/>
                <a:ea typeface="Calibri"/>
                <a:cs typeface="Calibri"/>
              </a:rPr>
              <a:t>AO1/2             BO1/2</a:t>
            </a:r>
          </a:p>
        </p:txBody>
      </p:sp>
      <p:sp>
        <p:nvSpPr>
          <p:cNvPr id="27" name="Straight Connector 26">
            <a:extLst>
              <a:ext uri="{FF2B5EF4-FFF2-40B4-BE49-F238E27FC236}">
                <a16:creationId xmlns:a16="http://schemas.microsoft.com/office/drawing/2014/main" id="{9C73680D-4D73-4B47-A91A-EF16E8655339}"/>
              </a:ext>
            </a:extLst>
          </p:cNvPr>
          <p:cNvSpPr>
            <a:spLocks noGrp="1"/>
          </p:cNvSpPr>
          <p:nvPr/>
        </p:nvSpPr>
        <p:spPr>
          <a:xfrm>
            <a:off x="10134600" y="3971925"/>
            <a:ext cx="0" cy="619125"/>
          </a:xfrm>
          <a:prstGeom prst="line">
            <a:avLst/>
          </a:prstGeom>
          <a:noFill/>
          <a:ln w="15240">
            <a:solidFill>
              <a:srgbClr val="5A5A6E"/>
            </a:solidFill>
          </a:ln>
        </p:spPr>
        <p:txBody>
          <a:bodyPr/>
          <a:lstStyle/>
          <a:p>
            <a:endParaRPr lang="en-US"/>
          </a:p>
        </p:txBody>
      </p:sp>
      <p:sp>
        <p:nvSpPr>
          <p:cNvPr id="28" name="Straight Connector 27">
            <a:extLst>
              <a:ext uri="{FF2B5EF4-FFF2-40B4-BE49-F238E27FC236}">
                <a16:creationId xmlns:a16="http://schemas.microsoft.com/office/drawing/2014/main" id="{D91AFA87-5857-45C7-8B44-6E9613918B19}"/>
              </a:ext>
            </a:extLst>
          </p:cNvPr>
          <p:cNvSpPr>
            <a:spLocks noGrp="1"/>
          </p:cNvSpPr>
          <p:nvPr/>
        </p:nvSpPr>
        <p:spPr>
          <a:xfrm>
            <a:off x="762000" y="5657850"/>
            <a:ext cx="10858500" cy="0"/>
          </a:xfrm>
          <a:prstGeom prst="line">
            <a:avLst/>
          </a:prstGeom>
          <a:noFill/>
          <a:ln w="15240">
            <a:solidFill>
              <a:srgbClr val="D9730D"/>
            </a:solidFill>
          </a:ln>
        </p:spPr>
        <p:txBody>
          <a:bodyPr/>
          <a:lstStyle/>
          <a:p>
            <a:endParaRPr lang="en-US"/>
          </a:p>
        </p:txBody>
      </p:sp>
      <p:sp>
        <p:nvSpPr>
          <p:cNvPr id="29" name="Rectangle 28">
            <a:extLst>
              <a:ext uri="{FF2B5EF4-FFF2-40B4-BE49-F238E27FC236}">
                <a16:creationId xmlns:a16="http://schemas.microsoft.com/office/drawing/2014/main" id="{BF8DE90A-A3CD-406B-B7B0-E60A9E75B0AF}"/>
              </a:ext>
            </a:extLst>
          </p:cNvPr>
          <p:cNvSpPr>
            <a:spLocks noGrp="1"/>
          </p:cNvSpPr>
          <p:nvPr/>
        </p:nvSpPr>
        <p:spPr>
          <a:xfrm>
            <a:off x="457200" y="5810250"/>
            <a:ext cx="2000250" cy="304800"/>
          </a:xfrm>
          <a:prstGeom prst="rect">
            <a:avLst/>
          </a:prstGeom>
          <a:noFill/>
          <a:ln w="0">
            <a:noFill/>
          </a:ln>
        </p:spPr>
        <p:txBody>
          <a:bodyPr>
            <a:noAutofit/>
          </a:bodyPr>
          <a:lstStyle/>
          <a:p>
            <a:pPr>
              <a:buNone/>
              <a:defRPr sz="1350" b="0">
                <a:solidFill>
                  <a:srgbClr val="1E2761"/>
                </a:solidFill>
                <a:latin typeface="Calibri"/>
                <a:ea typeface="Calibri"/>
                <a:cs typeface="Calibri"/>
              </a:defRPr>
            </a:pPr>
            <a:r>
              <a:rPr sz="1350" b="0">
                <a:solidFill>
                  <a:srgbClr val="1E2761"/>
                </a:solidFill>
                <a:latin typeface="Calibri"/>
                <a:ea typeface="Calibri"/>
                <a:cs typeface="Calibri"/>
              </a:rPr>
              <a:t>Battery + switch</a:t>
            </a:r>
          </a:p>
        </p:txBody>
      </p:sp>
      <p:sp>
        <p:nvSpPr>
          <p:cNvPr id="30" name="Rectangle 29">
            <a:extLst>
              <a:ext uri="{FF2B5EF4-FFF2-40B4-BE49-F238E27FC236}">
                <a16:creationId xmlns:a16="http://schemas.microsoft.com/office/drawing/2014/main" id="{6E6BFC5D-6C4E-4DDA-89F9-EFBFCCB60AC6}"/>
              </a:ext>
            </a:extLst>
          </p:cNvPr>
          <p:cNvSpPr>
            <a:spLocks noGrp="1"/>
          </p:cNvSpPr>
          <p:nvPr/>
        </p:nvSpPr>
        <p:spPr>
          <a:xfrm>
            <a:off x="2819400" y="5810250"/>
            <a:ext cx="2381250" cy="304800"/>
          </a:xfrm>
          <a:prstGeom prst="rect">
            <a:avLst/>
          </a:prstGeom>
          <a:noFill/>
          <a:ln w="0">
            <a:noFill/>
          </a:ln>
        </p:spPr>
        <p:txBody>
          <a:bodyPr>
            <a:noAutofit/>
          </a:bodyPr>
          <a:lstStyle/>
          <a:p>
            <a:pPr>
              <a:buNone/>
              <a:defRPr sz="1350" b="0">
                <a:solidFill>
                  <a:srgbClr val="1E2761"/>
                </a:solidFill>
                <a:latin typeface="Calibri"/>
                <a:ea typeface="Calibri"/>
                <a:cs typeface="Calibri"/>
              </a:defRPr>
            </a:pPr>
            <a:r>
              <a:rPr sz="1350" b="0">
                <a:solidFill>
                  <a:srgbClr val="1E2761"/>
                </a:solidFill>
                <a:latin typeface="Calibri"/>
                <a:ea typeface="Calibri"/>
                <a:cs typeface="Calibri"/>
              </a:rPr>
              <a:t>Motor rail: driver VM</a:t>
            </a:r>
          </a:p>
        </p:txBody>
      </p:sp>
      <p:sp>
        <p:nvSpPr>
          <p:cNvPr id="31" name="Rectangle 30">
            <a:extLst>
              <a:ext uri="{FF2B5EF4-FFF2-40B4-BE49-F238E27FC236}">
                <a16:creationId xmlns:a16="http://schemas.microsoft.com/office/drawing/2014/main" id="{717B2497-8BB8-48CA-99A2-0D0BB1CC43AA}"/>
              </a:ext>
            </a:extLst>
          </p:cNvPr>
          <p:cNvSpPr>
            <a:spLocks noGrp="1"/>
          </p:cNvSpPr>
          <p:nvPr/>
        </p:nvSpPr>
        <p:spPr>
          <a:xfrm>
            <a:off x="5543550" y="5810250"/>
            <a:ext cx="3238500" cy="304800"/>
          </a:xfrm>
          <a:prstGeom prst="rect">
            <a:avLst/>
          </a:prstGeom>
          <a:noFill/>
          <a:ln w="0">
            <a:noFill/>
          </a:ln>
        </p:spPr>
        <p:txBody>
          <a:bodyPr>
            <a:noAutofit/>
          </a:bodyPr>
          <a:lstStyle/>
          <a:p>
            <a:pPr>
              <a:buNone/>
              <a:defRPr sz="1350" b="0">
                <a:solidFill>
                  <a:srgbClr val="1E2761"/>
                </a:solidFill>
                <a:latin typeface="Calibri"/>
                <a:ea typeface="Calibri"/>
                <a:cs typeface="Calibri"/>
              </a:defRPr>
            </a:pPr>
            <a:r>
              <a:rPr sz="1350" b="0">
                <a:solidFill>
                  <a:srgbClr val="1E2761"/>
                </a:solidFill>
                <a:latin typeface="Calibri"/>
                <a:ea typeface="Calibri"/>
                <a:cs typeface="Calibri"/>
              </a:rPr>
              <a:t>Regulated 5 V: sensor / boards</a:t>
            </a:r>
          </a:p>
        </p:txBody>
      </p:sp>
      <p:sp>
        <p:nvSpPr>
          <p:cNvPr id="32" name="Rectangle 31">
            <a:extLst>
              <a:ext uri="{FF2B5EF4-FFF2-40B4-BE49-F238E27FC236}">
                <a16:creationId xmlns:a16="http://schemas.microsoft.com/office/drawing/2014/main" id="{DDABC1D7-C8A9-4F2B-8BD7-29AFDA4DF82A}"/>
              </a:ext>
            </a:extLst>
          </p:cNvPr>
          <p:cNvSpPr>
            <a:spLocks noGrp="1"/>
          </p:cNvSpPr>
          <p:nvPr/>
        </p:nvSpPr>
        <p:spPr>
          <a:xfrm>
            <a:off x="9201150" y="5810250"/>
            <a:ext cx="2476500" cy="304800"/>
          </a:xfrm>
          <a:prstGeom prst="rect">
            <a:avLst/>
          </a:prstGeom>
          <a:noFill/>
          <a:ln w="0">
            <a:noFill/>
          </a:ln>
        </p:spPr>
        <p:txBody>
          <a:bodyPr>
            <a:noAutofit/>
          </a:bodyPr>
          <a:lstStyle/>
          <a:p>
            <a:pPr>
              <a:buNone/>
              <a:defRPr sz="1350" b="0">
                <a:solidFill>
                  <a:srgbClr val="1E2761"/>
                </a:solidFill>
                <a:latin typeface="Calibri"/>
                <a:ea typeface="Calibri"/>
                <a:cs typeface="Calibri"/>
              </a:defRPr>
            </a:pPr>
            <a:r>
              <a:rPr sz="1350" b="0">
                <a:solidFill>
                  <a:srgbClr val="1E2761"/>
                </a:solidFill>
                <a:latin typeface="Calibri"/>
                <a:ea typeface="Calibri"/>
                <a:cs typeface="Calibri"/>
              </a:rPr>
              <a:t>3.3 V: logic / IMU</a:t>
            </a:r>
          </a:p>
        </p:txBody>
      </p:sp>
      <p:sp>
        <p:nvSpPr>
          <p:cNvPr id="33" name="Rectangle 32">
            <a:extLst>
              <a:ext uri="{FF2B5EF4-FFF2-40B4-BE49-F238E27FC236}">
                <a16:creationId xmlns:a16="http://schemas.microsoft.com/office/drawing/2014/main" id="{B79591E8-BF0B-49BF-8F05-B9B49ED500B7}"/>
              </a:ext>
            </a:extLst>
          </p:cNvPr>
          <p:cNvSpPr>
            <a:spLocks noGrp="1"/>
          </p:cNvSpPr>
          <p:nvPr/>
        </p:nvSpPr>
        <p:spPr>
          <a:xfrm>
            <a:off x="457200" y="6229350"/>
            <a:ext cx="10763250" cy="323850"/>
          </a:xfrm>
          <a:prstGeom prst="rect">
            <a:avLst/>
          </a:prstGeom>
          <a:noFill/>
          <a:ln w="0">
            <a:noFill/>
          </a:ln>
        </p:spPr>
        <p:txBody>
          <a:bodyPr>
            <a:noAutofit/>
          </a:bodyPr>
          <a:lstStyle/>
          <a:p>
            <a:pPr>
              <a:buNone/>
              <a:defRPr sz="1125" b="0">
                <a:solidFill>
                  <a:srgbClr val="5A5A6E"/>
                </a:solidFill>
                <a:latin typeface="Calibri"/>
                <a:ea typeface="Calibri"/>
                <a:cs typeface="Calibri"/>
              </a:defRPr>
            </a:pPr>
            <a:r>
              <a:rPr sz="1125" b="0">
                <a:solidFill>
                  <a:srgbClr val="5A5A6E"/>
                </a:solidFill>
                <a:latin typeface="Calibri"/>
                <a:ea typeface="Calibri"/>
                <a:cs typeface="Calibri"/>
              </a:rPr>
              <a:t>Common ground for all modules. Proposed interface schematic. Final pin allocation and component ratings require validation.</a:t>
            </a:r>
          </a:p>
        </p:txBody>
      </p:sp>
    </p:spTree>
    <p:extLst>
      <p:ext uri="{BB962C8B-B14F-4D97-AF65-F5344CB8AC3E}">
        <p14:creationId xmlns:p14="http://schemas.microsoft.com/office/powerpoint/2010/main" val="1824363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55D7C47-90B9-4336-8A9C-863254B6E0F9}"/>
              </a:ext>
            </a:extLst>
          </p:cNvPr>
          <p:cNvSpPr>
            <a:spLocks noGrp="1"/>
          </p:cNvSpPr>
          <p:nvPr/>
        </p:nvSpPr>
        <p:spPr>
          <a:xfrm>
            <a:off x="457200" y="200025"/>
            <a:ext cx="10420350" cy="323850"/>
          </a:xfrm>
          <a:prstGeom prst="rect">
            <a:avLst/>
          </a:prstGeom>
          <a:noFill/>
          <a:ln w="0">
            <a:noFill/>
          </a:ln>
        </p:spPr>
        <p:txBody>
          <a:bodyPr>
            <a:noAutofit/>
          </a:bodyPr>
          <a:lstStyle/>
          <a:p>
            <a:pPr>
              <a:buNone/>
              <a:defRPr sz="1050" b="1">
                <a:solidFill>
                  <a:srgbClr val="5A5A6E"/>
                </a:solidFill>
                <a:latin typeface="Calibri"/>
                <a:ea typeface="Calibri"/>
                <a:cs typeface="Calibri"/>
              </a:defRPr>
            </a:pPr>
            <a:r>
              <a:rPr sz="1050" b="1">
                <a:solidFill>
                  <a:srgbClr val="5A5A6E"/>
                </a:solidFill>
                <a:latin typeface="Calibri"/>
                <a:ea typeface="Calibri"/>
                <a:cs typeface="Calibri"/>
              </a:rPr>
              <a:t>21ECC301P - MICROPROCESSOR, MICROCONTROLLER, AND INTERFACING TECHNIQUES</a:t>
            </a:r>
          </a:p>
        </p:txBody>
      </p:sp>
      <p:sp>
        <p:nvSpPr>
          <p:cNvPr id="2" name="Rectangle 1">
            <a:extLst>
              <a:ext uri="{FF2B5EF4-FFF2-40B4-BE49-F238E27FC236}">
                <a16:creationId xmlns:a16="http://schemas.microsoft.com/office/drawing/2014/main" id="{493ACD04-F65C-4841-A9B8-7E668C55C355}"/>
              </a:ext>
            </a:extLst>
          </p:cNvPr>
          <p:cNvSpPr>
            <a:spLocks noGrp="1"/>
          </p:cNvSpPr>
          <p:nvPr/>
        </p:nvSpPr>
        <p:spPr>
          <a:xfrm>
            <a:off x="457200" y="571500"/>
            <a:ext cx="10668000" cy="571500"/>
          </a:xfrm>
          <a:prstGeom prst="rect">
            <a:avLst/>
          </a:prstGeom>
          <a:noFill/>
          <a:ln w="0">
            <a:noFill/>
          </a:ln>
        </p:spPr>
        <p:txBody>
          <a:bodyPr>
            <a:noAutofit/>
          </a:bodyPr>
          <a:lstStyle/>
          <a:p>
            <a:pPr>
              <a:buNone/>
              <a:defRPr sz="3000" b="1">
                <a:solidFill>
                  <a:srgbClr val="1E2761"/>
                </a:solidFill>
                <a:latin typeface="Cambria"/>
                <a:ea typeface="Cambria"/>
                <a:cs typeface="Cambria"/>
              </a:defRPr>
            </a:pPr>
            <a:r>
              <a:rPr sz="3000" b="1">
                <a:solidFill>
                  <a:srgbClr val="1E2761"/>
                </a:solidFill>
                <a:latin typeface="Cambria"/>
                <a:ea typeface="Cambria"/>
                <a:cs typeface="Cambria"/>
              </a:rPr>
              <a:t>ROVER 3D CONCEPT MODEL</a:t>
            </a:r>
          </a:p>
        </p:txBody>
      </p:sp>
      <p:sp>
        <p:nvSpPr>
          <p:cNvPr id="3" name="Rectangle 2">
            <a:extLst>
              <a:ext uri="{FF2B5EF4-FFF2-40B4-BE49-F238E27FC236}">
                <a16:creationId xmlns:a16="http://schemas.microsoft.com/office/drawing/2014/main" id="{32856A08-A157-4F50-B068-9E79204DF5E2}"/>
              </a:ext>
            </a:extLst>
          </p:cNvPr>
          <p:cNvSpPr>
            <a:spLocks noGrp="1"/>
          </p:cNvSpPr>
          <p:nvPr/>
        </p:nvSpPr>
        <p:spPr>
          <a:xfrm>
            <a:off x="11525250" y="6438900"/>
            <a:ext cx="457200" cy="323850"/>
          </a:xfrm>
          <a:prstGeom prst="rect">
            <a:avLst/>
          </a:prstGeom>
          <a:noFill/>
          <a:ln w="0">
            <a:noFill/>
          </a:ln>
        </p:spPr>
        <p:txBody>
          <a:bodyPr>
            <a:noAutofit/>
          </a:bodyPr>
          <a:lstStyle/>
          <a:p>
            <a:pPr>
              <a:buNone/>
              <a:defRPr sz="1050" b="0">
                <a:solidFill>
                  <a:srgbClr val="5A5A6E"/>
                </a:solidFill>
                <a:latin typeface="Calibri"/>
                <a:ea typeface="Calibri"/>
                <a:cs typeface="Calibri"/>
              </a:defRPr>
            </a:pPr>
            <a:r>
              <a:rPr sz="1050" b="0">
                <a:solidFill>
                  <a:srgbClr val="5A5A6E"/>
                </a:solidFill>
                <a:latin typeface="Calibri"/>
                <a:ea typeface="Calibri"/>
                <a:cs typeface="Calibri"/>
              </a:rPr>
              <a:t>13</a:t>
            </a:r>
          </a:p>
        </p:txBody>
      </p:sp>
      <p:pic>
        <p:nvPicPr>
          <p:cNvPr id="16" name="Picture 15"/>
          <p:cNvPicPr>
            <a:picLocks noChangeAspect="1"/>
          </p:cNvPicPr>
          <p:nvPr/>
        </p:nvPicPr>
        <p:blipFill>
          <a:blip r:embed="rId3"/>
          <a:stretch/>
        </p:blipFill>
        <p:spPr>
          <a:xfrm>
            <a:off x="11177543" y="266700"/>
            <a:ext cx="552540" cy="409575"/>
          </a:xfrm>
          <a:prstGeom prst="rect">
            <a:avLst/>
          </a:prstGeom>
        </p:spPr>
      </p:pic>
      <p:pic>
        <p:nvPicPr>
          <p:cNvPr id="17" name="Picture 16"/>
          <p:cNvPicPr>
            <a:picLocks noChangeAspect="1"/>
          </p:cNvPicPr>
          <p:nvPr/>
        </p:nvPicPr>
        <p:blipFill>
          <a:blip r:embed="rId4"/>
          <a:stretch/>
        </p:blipFill>
        <p:spPr>
          <a:xfrm>
            <a:off x="771525" y="1314450"/>
            <a:ext cx="7229475" cy="4819650"/>
          </a:xfrm>
          <a:prstGeom prst="rect">
            <a:avLst/>
          </a:prstGeom>
        </p:spPr>
      </p:pic>
      <p:sp>
        <p:nvSpPr>
          <p:cNvPr id="6" name="Rectangle 5">
            <a:extLst>
              <a:ext uri="{FF2B5EF4-FFF2-40B4-BE49-F238E27FC236}">
                <a16:creationId xmlns:a16="http://schemas.microsoft.com/office/drawing/2014/main" id="{157FC921-55F6-4FD1-876C-BAD839FA1E66}"/>
              </a:ext>
            </a:extLst>
          </p:cNvPr>
          <p:cNvSpPr>
            <a:spLocks noGrp="1"/>
          </p:cNvSpPr>
          <p:nvPr/>
        </p:nvSpPr>
        <p:spPr>
          <a:xfrm>
            <a:off x="8667750" y="1504950"/>
            <a:ext cx="3009900" cy="476250"/>
          </a:xfrm>
          <a:prstGeom prst="rect">
            <a:avLst/>
          </a:prstGeom>
          <a:noFill/>
          <a:ln w="0">
            <a:noFill/>
          </a:ln>
        </p:spPr>
        <p:txBody>
          <a:bodyPr>
            <a:noAutofit/>
          </a:bodyPr>
          <a:lstStyle/>
          <a:p>
            <a:pPr>
              <a:buNone/>
              <a:defRPr sz="1875" b="1">
                <a:solidFill>
                  <a:srgbClr val="1E2761"/>
                </a:solidFill>
                <a:latin typeface="Calibri"/>
                <a:ea typeface="Calibri"/>
                <a:cs typeface="Calibri"/>
              </a:defRPr>
            </a:pPr>
            <a:r>
              <a:rPr sz="1875" b="1">
                <a:solidFill>
                  <a:srgbClr val="1E2761"/>
                </a:solidFill>
                <a:latin typeface="Calibri"/>
                <a:ea typeface="Calibri"/>
                <a:cs typeface="Calibri"/>
              </a:rPr>
              <a:t>Proposed component layout</a:t>
            </a:r>
          </a:p>
        </p:txBody>
      </p:sp>
      <p:sp>
        <p:nvSpPr>
          <p:cNvPr id="7" name="Rectangle 6">
            <a:extLst>
              <a:ext uri="{FF2B5EF4-FFF2-40B4-BE49-F238E27FC236}">
                <a16:creationId xmlns:a16="http://schemas.microsoft.com/office/drawing/2014/main" id="{67C2C161-1479-463F-92B5-E87206BC6872}"/>
              </a:ext>
            </a:extLst>
          </p:cNvPr>
          <p:cNvSpPr>
            <a:spLocks noGrp="1"/>
          </p:cNvSpPr>
          <p:nvPr/>
        </p:nvSpPr>
        <p:spPr>
          <a:xfrm>
            <a:off x="8667750" y="2152650"/>
            <a:ext cx="3009900" cy="1695450"/>
          </a:xfrm>
          <a:prstGeom prst="rect">
            <a:avLst/>
          </a:prstGeom>
          <a:noFill/>
          <a:ln w="0">
            <a:noFill/>
          </a:ln>
        </p:spPr>
        <p:txBody>
          <a:bodyPr>
            <a:noAutofit/>
          </a:bodyPr>
          <a:lstStyle/>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Top deck</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STM32 logic analyzer</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ESP32 wireless monitor</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Motor driver and IMU</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Accessible probe connector</a:t>
            </a:r>
          </a:p>
        </p:txBody>
      </p:sp>
      <p:sp>
        <p:nvSpPr>
          <p:cNvPr id="8" name="Rectangle 7">
            <a:extLst>
              <a:ext uri="{FF2B5EF4-FFF2-40B4-BE49-F238E27FC236}">
                <a16:creationId xmlns:a16="http://schemas.microsoft.com/office/drawing/2014/main" id="{4EFCBF0A-CCC5-456B-A15E-87E03FBE6AB5}"/>
              </a:ext>
            </a:extLst>
          </p:cNvPr>
          <p:cNvSpPr>
            <a:spLocks noGrp="1"/>
          </p:cNvSpPr>
          <p:nvPr/>
        </p:nvSpPr>
        <p:spPr>
          <a:xfrm>
            <a:off x="8667750" y="4095750"/>
            <a:ext cx="3009900" cy="1466850"/>
          </a:xfrm>
          <a:prstGeom prst="rect">
            <a:avLst/>
          </a:prstGeom>
          <a:noFill/>
          <a:ln w="0">
            <a:noFill/>
          </a:ln>
        </p:spPr>
        <p:txBody>
          <a:bodyPr>
            <a:noAutofit/>
          </a:bodyPr>
          <a:lstStyle/>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Front and lower deck</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Ultrasonic obstacle sensor</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Battery and geared motors</a:t>
            </a:r>
          </a:p>
          <a:p>
            <a:pPr>
              <a:buNone/>
              <a:defRPr sz="1575" b="0">
                <a:solidFill>
                  <a:srgbClr val="1E2761"/>
                </a:solidFill>
                <a:latin typeface="Calibri"/>
                <a:ea typeface="Calibri"/>
                <a:cs typeface="Calibri"/>
              </a:defRPr>
            </a:pPr>
            <a:r>
              <a:rPr sz="1575" b="0">
                <a:solidFill>
                  <a:srgbClr val="1E2761"/>
                </a:solidFill>
                <a:latin typeface="Calibri"/>
                <a:ea typeface="Calibri"/>
                <a:cs typeface="Calibri"/>
              </a:rPr>
              <a:t>Encoders and rear caster</a:t>
            </a:r>
          </a:p>
        </p:txBody>
      </p:sp>
      <p:sp>
        <p:nvSpPr>
          <p:cNvPr id="9" name="Rectangle 8">
            <a:extLst>
              <a:ext uri="{FF2B5EF4-FFF2-40B4-BE49-F238E27FC236}">
                <a16:creationId xmlns:a16="http://schemas.microsoft.com/office/drawing/2014/main" id="{77A4DC12-C29B-4D5B-A12A-15817B769480}"/>
              </a:ext>
            </a:extLst>
          </p:cNvPr>
          <p:cNvSpPr>
            <a:spLocks noGrp="1"/>
          </p:cNvSpPr>
          <p:nvPr/>
        </p:nvSpPr>
        <p:spPr>
          <a:xfrm>
            <a:off x="457200" y="6229350"/>
            <a:ext cx="10715625" cy="323850"/>
          </a:xfrm>
          <a:prstGeom prst="rect">
            <a:avLst/>
          </a:prstGeom>
          <a:noFill/>
          <a:ln w="0">
            <a:noFill/>
          </a:ln>
        </p:spPr>
        <p:txBody>
          <a:bodyPr>
            <a:noAutofit/>
          </a:bodyPr>
          <a:lstStyle/>
          <a:p>
            <a:pPr>
              <a:buNone/>
              <a:defRPr sz="1200" b="0">
                <a:solidFill>
                  <a:srgbClr val="5A5A6E"/>
                </a:solidFill>
                <a:latin typeface="Calibri"/>
                <a:ea typeface="Calibri"/>
                <a:cs typeface="Calibri"/>
              </a:defRPr>
            </a:pPr>
            <a:r>
              <a:rPr sz="1200" b="0">
                <a:solidFill>
                  <a:srgbClr val="5A5A6E"/>
                </a:solidFill>
                <a:latin typeface="Calibri"/>
                <a:ea typeface="Calibri"/>
                <a:cs typeface="Calibri"/>
              </a:rPr>
              <a:t>AI-generated 3D concept. Module placement is illustrative and dimensions are not finalized.</a:t>
            </a:r>
          </a:p>
        </p:txBody>
      </p:sp>
    </p:spTree>
    <p:extLst>
      <p:ext uri="{BB962C8B-B14F-4D97-AF65-F5344CB8AC3E}">
        <p14:creationId xmlns:p14="http://schemas.microsoft.com/office/powerpoint/2010/main" val="212639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3C37BDBC-E548-4AAF-A133-402963DBEF74}"/>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41277E72-F072-4A70-A9B6-D6B174999C15}"/>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HARDWARE &amp; SOFTWARE REQUIREMENTS</a:t>
            </a:r>
            <a:endParaRPr sz="3000"/>
          </a:p>
        </p:txBody>
      </p:sp>
      <p:graphicFrame>
        <p:nvGraphicFramePr>
          <p:cNvPr id="24" name="Table 0"/>
          <p:cNvGraphicFramePr/>
          <p:nvPr/>
        </p:nvGraphicFramePr>
        <p:xfrm>
          <a:off x="457200" y="1371600"/>
          <a:ext cx="7680960" cy="4096512"/>
        </p:xfrm>
        <a:graphic>
          <a:graphicData uri="http://schemas.openxmlformats.org/drawingml/2006/table">
            <a:tbl>
              <a:tblPr/>
              <a:tblGrid>
                <a:gridCol w="50292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402336">
                <a:tc>
                  <a:txBody>
                    <a:bodyPr/>
                    <a:lstStyle/>
                    <a:p>
                      <a:pPr marL="0" indent="0" algn="ctr">
                        <a:buNone/>
                      </a:pPr>
                      <a:r>
                        <a:rPr sz="1200" b="1">
                          <a:solidFill>
                            <a:srgbClr val="FFFFFF"/>
                          </a:solidFill>
                          <a:latin typeface="Calibri"/>
                          <a:ea typeface="Calibri"/>
                          <a:cs typeface="Calibri"/>
                        </a:rPr>
                        <a:t>S.No</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1200" b="1">
                          <a:solidFill>
                            <a:srgbClr val="FFFFFF"/>
                          </a:solidFill>
                          <a:latin typeface="Calibri"/>
                          <a:ea typeface="Calibri"/>
                          <a:cs typeface="Calibri"/>
                        </a:rPr>
                        <a:t>Component</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1200" b="1">
                          <a:solidFill>
                            <a:srgbClr val="FFFFFF"/>
                          </a:solidFill>
                          <a:latin typeface="Calibri"/>
                          <a:ea typeface="Calibri"/>
                          <a:cs typeface="Calibri"/>
                        </a:rPr>
                        <a:t>Key Specification</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1200" b="1">
                          <a:solidFill>
                            <a:srgbClr val="FFFFFF"/>
                          </a:solidFill>
                          <a:latin typeface="Calibri"/>
                          <a:ea typeface="Calibri"/>
                          <a:cs typeface="Calibri"/>
                        </a:rPr>
                        <a:t>Role in Project</a:t>
                      </a:r>
                      <a:endParaRPr sz="12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extLst>
                  <a:ext uri="{0D108BD9-81ED-4DB2-BD59-A6C34878D82A}">
                    <a16:rowId xmlns:a16="http://schemas.microsoft.com/office/drawing/2014/main" val="10000"/>
                  </a:ext>
                </a:extLst>
              </a:tr>
              <a:tr h="461772">
                <a:tc>
                  <a:txBody>
                    <a:bodyPr/>
                    <a:lstStyle/>
                    <a:p>
                      <a:pPr marL="0" indent="0" algn="ctr">
                        <a:buNone/>
                      </a:pPr>
                      <a:r>
                        <a:rPr sz="1100">
                          <a:solidFill>
                            <a:srgbClr val="1A1A2E"/>
                          </a:solidFill>
                          <a:latin typeface="Calibri"/>
                          <a:ea typeface="Calibri"/>
                          <a:cs typeface="Calibri"/>
                        </a:rPr>
                        <a:t>1</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b="1">
                          <a:solidFill>
                            <a:srgbClr val="1A1A2E"/>
                          </a:solidFill>
                          <a:latin typeface="Calibri"/>
                          <a:ea typeface="Calibri"/>
                          <a:cs typeface="Calibri"/>
                        </a:rPr>
                        <a:t>STM32F103C8T6 (Blue Pill)</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Arm Cortex-M3, 72 MHz, 64 KB Flash, 20 KB SRAM</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Logic analyzer and rover controller</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1"/>
                  </a:ext>
                </a:extLst>
              </a:tr>
              <a:tr h="461772">
                <a:tc>
                  <a:txBody>
                    <a:bodyPr/>
                    <a:lstStyle/>
                    <a:p>
                      <a:pPr marL="0" indent="0" algn="ctr">
                        <a:buNone/>
                      </a:pPr>
                      <a:r>
                        <a:rPr sz="1100">
                          <a:solidFill>
                            <a:srgbClr val="1A1A2E"/>
                          </a:solidFill>
                          <a:latin typeface="Calibri"/>
                          <a:ea typeface="Calibri"/>
                          <a:cs typeface="Calibri"/>
                        </a:rPr>
                        <a:t>2</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b="1">
                          <a:solidFill>
                            <a:srgbClr val="1A1A2E"/>
                          </a:solidFill>
                          <a:latin typeface="Calibri"/>
                          <a:ea typeface="Calibri"/>
                          <a:cs typeface="Calibri"/>
                        </a:rPr>
                        <a:t>ESP32 Wi-Fi + Bluetooth module</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Dual-core SoC, 2.4 GHz 802.11 b/g/n, Bluetooth 4.2 / BLE</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RSSI, packet-loss and latency tests; data link</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2"/>
                  </a:ext>
                </a:extLst>
              </a:tr>
              <a:tr h="461772">
                <a:tc>
                  <a:txBody>
                    <a:bodyPr/>
                    <a:lstStyle/>
                    <a:p>
                      <a:pPr marL="0" indent="0" algn="ctr">
                        <a:buNone/>
                      </a:pPr>
                      <a:r>
                        <a:rPr sz="1100">
                          <a:solidFill>
                            <a:srgbClr val="1A1A2E"/>
                          </a:solidFill>
                          <a:latin typeface="Calibri"/>
                          <a:ea typeface="Calibri"/>
                          <a:cs typeface="Calibri"/>
                        </a:rPr>
                        <a:t>3</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b="1">
                          <a:solidFill>
                            <a:srgbClr val="1A1A2E"/>
                          </a:solidFill>
                          <a:latin typeface="Calibri"/>
                          <a:ea typeface="Calibri"/>
                          <a:cs typeface="Calibri"/>
                        </a:rPr>
                        <a:t>MPU6050 IMU</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3-axis gyroscope + 3-axis accelerometer, I2C</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Heading and orientation estimation</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3"/>
                  </a:ext>
                </a:extLst>
              </a:tr>
              <a:tr h="461772">
                <a:tc>
                  <a:txBody>
                    <a:bodyPr/>
                    <a:lstStyle/>
                    <a:p>
                      <a:pPr marL="0" indent="0" algn="ctr">
                        <a:buNone/>
                      </a:pPr>
                      <a:r>
                        <a:rPr sz="1100">
                          <a:solidFill>
                            <a:srgbClr val="1A1A2E"/>
                          </a:solidFill>
                          <a:latin typeface="Calibri"/>
                          <a:ea typeface="Calibri"/>
                          <a:cs typeface="Calibri"/>
                        </a:rPr>
                        <a:t>4</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b="1">
                          <a:solidFill>
                            <a:srgbClr val="1A1A2E"/>
                          </a:solidFill>
                          <a:latin typeface="Calibri"/>
                          <a:ea typeface="Calibri"/>
                          <a:cs typeface="Calibri"/>
                        </a:rPr>
                        <a:t>HC-SR04 ultrasonic sensors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2 cm – 400 cm range, 40 kHz</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Obstacle detection</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4"/>
                  </a:ext>
                </a:extLst>
              </a:tr>
              <a:tr h="461772">
                <a:tc>
                  <a:txBody>
                    <a:bodyPr/>
                    <a:lstStyle/>
                    <a:p>
                      <a:pPr marL="0" indent="0" algn="ctr">
                        <a:buNone/>
                      </a:pPr>
                      <a:r>
                        <a:rPr sz="1100">
                          <a:solidFill>
                            <a:srgbClr val="1A1A2E"/>
                          </a:solidFill>
                          <a:latin typeface="Calibri"/>
                          <a:ea typeface="Calibri"/>
                          <a:cs typeface="Calibri"/>
                        </a:rPr>
                        <a:t>5</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b="1">
                          <a:solidFill>
                            <a:srgbClr val="1A1A2E"/>
                          </a:solidFill>
                          <a:latin typeface="Calibri"/>
                          <a:ea typeface="Calibri"/>
                          <a:cs typeface="Calibri"/>
                        </a:rPr>
                        <a:t>TB6612FNG motor driver</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Dual H-bridge, 1.2 A avg / 3.2 A peak per channel</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Drives left and right motors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5"/>
                  </a:ext>
                </a:extLst>
              </a:tr>
              <a:tr h="461772">
                <a:tc>
                  <a:txBody>
                    <a:bodyPr/>
                    <a:lstStyle/>
                    <a:p>
                      <a:pPr marL="0" indent="0" algn="ctr">
                        <a:buNone/>
                      </a:pPr>
                      <a:r>
                        <a:rPr sz="1100">
                          <a:solidFill>
                            <a:srgbClr val="1A1A2E"/>
                          </a:solidFill>
                          <a:latin typeface="Calibri"/>
                          <a:ea typeface="Calibri"/>
                          <a:cs typeface="Calibri"/>
                        </a:rPr>
                        <a:t>6</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b="1">
                          <a:solidFill>
                            <a:srgbClr val="1A1A2E"/>
                          </a:solidFill>
                          <a:latin typeface="Calibri"/>
                          <a:ea typeface="Calibri"/>
                          <a:cs typeface="Calibri"/>
                        </a:rPr>
                        <a:t>Geared DC motors with encoders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Quadrature (A/B) wheel encoders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Differential drive and odometry</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6"/>
                  </a:ext>
                </a:extLst>
              </a:tr>
              <a:tr h="461772">
                <a:tc>
                  <a:txBody>
                    <a:bodyPr/>
                    <a:lstStyle/>
                    <a:p>
                      <a:pPr marL="0" indent="0" algn="ctr">
                        <a:buNone/>
                      </a:pPr>
                      <a:r>
                        <a:rPr sz="1100">
                          <a:solidFill>
                            <a:srgbClr val="1A1A2E"/>
                          </a:solidFill>
                          <a:latin typeface="Calibri"/>
                          <a:ea typeface="Calibri"/>
                          <a:cs typeface="Calibri"/>
                        </a:rPr>
                        <a:t>7</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b="1">
                          <a:solidFill>
                            <a:srgbClr val="1A1A2E"/>
                          </a:solidFill>
                          <a:latin typeface="Calibri"/>
                          <a:ea typeface="Calibri"/>
                          <a:cs typeface="Calibri"/>
                        </a:rPr>
                        <a:t>Li-ion battery pack + buck regulator</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Regulated 5 V and 3.3 V rails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l">
                        <a:buNone/>
                      </a:pPr>
                      <a:r>
                        <a:rPr sz="1100">
                          <a:solidFill>
                            <a:srgbClr val="1A1A2E"/>
                          </a:solidFill>
                          <a:latin typeface="Calibri"/>
                          <a:ea typeface="Calibri"/>
                          <a:cs typeface="Calibri"/>
                        </a:rPr>
                        <a:t>Power for motors, MCUs and sensors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7"/>
                  </a:ext>
                </a:extLst>
              </a:tr>
              <a:tr h="461772">
                <a:tc>
                  <a:txBody>
                    <a:bodyPr/>
                    <a:lstStyle/>
                    <a:p>
                      <a:pPr marL="0" indent="0" algn="ctr">
                        <a:buNone/>
                      </a:pPr>
                      <a:r>
                        <a:rPr sz="1100">
                          <a:solidFill>
                            <a:srgbClr val="1A1A2E"/>
                          </a:solidFill>
                          <a:latin typeface="Calibri"/>
                          <a:ea typeface="Calibri"/>
                          <a:cs typeface="Calibri"/>
                        </a:rPr>
                        <a:t>8</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b="1">
                          <a:solidFill>
                            <a:srgbClr val="1A1A2E"/>
                          </a:solidFill>
                          <a:latin typeface="Calibri"/>
                          <a:ea typeface="Calibri"/>
                          <a:cs typeface="Calibri"/>
                        </a:rPr>
                        <a:t>LoRa module (optional)</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Sub-GHz long-range radio, SPI interface</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l">
                        <a:buNone/>
                      </a:pPr>
                      <a:r>
                        <a:rPr sz="1100">
                          <a:solidFill>
                            <a:srgbClr val="1A1A2E"/>
                          </a:solidFill>
                          <a:latin typeface="Calibri"/>
                          <a:ea typeface="Calibri"/>
                          <a:cs typeface="Calibri"/>
                        </a:rPr>
                        <a:t>Long-range link tests</a:t>
                      </a:r>
                      <a:endParaRPr sz="110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8"/>
                  </a:ext>
                </a:extLst>
              </a:tr>
            </a:tbl>
          </a:graphicData>
        </a:graphic>
      </p:graphicFrame>
      <p:sp>
        <p:nvSpPr>
          <p:cNvPr id="6" name="Text 2">
            <a:extLst>
              <a:ext uri="{FF2B5EF4-FFF2-40B4-BE49-F238E27FC236}">
                <a16:creationId xmlns:a16="http://schemas.microsoft.com/office/drawing/2014/main" id="{46A89050-E256-4142-8D7F-B69F1765E119}"/>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14</a:t>
            </a:r>
            <a:endParaRPr sz="1100"/>
          </a:p>
        </p:txBody>
      </p:sp>
      <p:sp>
        <p:nvSpPr>
          <p:cNvPr id="8" name="Rounded Rectangle 7">
            <a:extLst>
              <a:ext uri="{FF2B5EF4-FFF2-40B4-BE49-F238E27FC236}">
                <a16:creationId xmlns:a16="http://schemas.microsoft.com/office/drawing/2014/main" id="{49D8B4DB-AE90-420E-A0A2-E8271C5FD1D2}"/>
              </a:ext>
            </a:extLst>
          </p:cNvPr>
          <p:cNvSpPr>
            <a:spLocks noGrp="1"/>
          </p:cNvSpPr>
          <p:nvPr/>
        </p:nvSpPr>
        <p:spPr>
          <a:xfrm>
            <a:off x="8412480" y="1371600"/>
            <a:ext cx="3319272" cy="4096512"/>
          </a:xfrm>
          <a:prstGeom prst="roundRect">
            <a:avLst>
              <a:gd name="adj" fmla="val 3000"/>
            </a:avLst>
          </a:prstGeom>
          <a:solidFill>
            <a:srgbClr val="F4F6FC"/>
          </a:solidFill>
          <a:ln>
            <a:noFill/>
          </a:ln>
        </p:spPr>
        <p:txBody>
          <a:bodyPr wrap="square" anchor="ctr">
            <a:noAutofit/>
          </a:bodyPr>
          <a:lstStyle/>
          <a:p>
            <a:pPr algn="ctr">
              <a:buNone/>
            </a:pPr>
            <a:endParaRPr/>
          </a:p>
        </p:txBody>
      </p:sp>
      <p:sp>
        <p:nvSpPr>
          <p:cNvPr id="9" name="TextBox 8">
            <a:extLst>
              <a:ext uri="{FF2B5EF4-FFF2-40B4-BE49-F238E27FC236}">
                <a16:creationId xmlns:a16="http://schemas.microsoft.com/office/drawing/2014/main" id="{5A5E977A-3210-4D05-879D-D116FD225ACE}"/>
              </a:ext>
            </a:extLst>
          </p:cNvPr>
          <p:cNvSpPr>
            <a:spLocks noGrp="1"/>
          </p:cNvSpPr>
          <p:nvPr/>
        </p:nvSpPr>
        <p:spPr>
          <a:xfrm>
            <a:off x="8641080" y="1499616"/>
            <a:ext cx="2862072" cy="365760"/>
          </a:xfrm>
          <a:prstGeom prst="rect">
            <a:avLst/>
          </a:prstGeom>
          <a:noFill/>
        </p:spPr>
        <p:txBody>
          <a:bodyPr wrap="square" lIns="0" tIns="0" rIns="0" bIns="0" anchor="ctr">
            <a:noAutofit/>
          </a:bodyPr>
          <a:lstStyle/>
          <a:p>
            <a:pPr marL="0" indent="0" algn="l">
              <a:buNone/>
            </a:pPr>
            <a:r>
              <a:rPr sz="1700" b="1" i="0">
                <a:solidFill>
                  <a:srgbClr val="1E2761"/>
                </a:solidFill>
                <a:latin typeface="Calibri"/>
                <a:ea typeface="Calibri"/>
                <a:cs typeface="Calibri"/>
              </a:rPr>
              <a:t>Software &amp; Tools</a:t>
            </a:r>
          </a:p>
        </p:txBody>
      </p:sp>
      <p:sp>
        <p:nvSpPr>
          <p:cNvPr id="10" name="Oval 9">
            <a:extLst>
              <a:ext uri="{FF2B5EF4-FFF2-40B4-BE49-F238E27FC236}">
                <a16:creationId xmlns:a16="http://schemas.microsoft.com/office/drawing/2014/main" id="{FD3AB879-7FA5-4942-8195-48E85E9181D2}"/>
              </a:ext>
            </a:extLst>
          </p:cNvPr>
          <p:cNvSpPr>
            <a:spLocks noGrp="1"/>
          </p:cNvSpPr>
          <p:nvPr/>
        </p:nvSpPr>
        <p:spPr>
          <a:xfrm>
            <a:off x="8641080" y="2048256"/>
            <a:ext cx="310896" cy="310896"/>
          </a:xfrm>
          <a:prstGeom prst="ellipse">
            <a:avLst/>
          </a:prstGeom>
          <a:solidFill>
            <a:srgbClr val="3D5AFE"/>
          </a:solidFill>
          <a:ln>
            <a:noFill/>
          </a:ln>
        </p:spPr>
        <p:txBody>
          <a:bodyPr wrap="square" lIns="0" tIns="0" rIns="0" bIns="0" anchor="ctr">
            <a:noAutofit/>
          </a:bodyPr>
          <a:lstStyle/>
          <a:p>
            <a:pPr marL="0" indent="0" algn="ctr">
              <a:buNone/>
            </a:pPr>
            <a:r>
              <a:rPr sz="1200" b="1" i="0">
                <a:solidFill>
                  <a:srgbClr val="FFFFFF"/>
                </a:solidFill>
                <a:latin typeface="Calibri"/>
                <a:ea typeface="Calibri"/>
                <a:cs typeface="Calibri"/>
              </a:rPr>
              <a:t>1</a:t>
            </a:r>
          </a:p>
        </p:txBody>
      </p:sp>
      <p:sp>
        <p:nvSpPr>
          <p:cNvPr id="11" name="TextBox 10">
            <a:extLst>
              <a:ext uri="{FF2B5EF4-FFF2-40B4-BE49-F238E27FC236}">
                <a16:creationId xmlns:a16="http://schemas.microsoft.com/office/drawing/2014/main" id="{23352361-EC73-49FA-9990-4C83A9C37622}"/>
              </a:ext>
            </a:extLst>
          </p:cNvPr>
          <p:cNvSpPr>
            <a:spLocks noGrp="1"/>
          </p:cNvSpPr>
          <p:nvPr/>
        </p:nvSpPr>
        <p:spPr>
          <a:xfrm>
            <a:off x="9070848" y="2029968"/>
            <a:ext cx="2450591" cy="777240"/>
          </a:xfrm>
          <a:prstGeom prst="rect">
            <a:avLst/>
          </a:prstGeom>
          <a:noFill/>
        </p:spPr>
        <p:txBody>
          <a:bodyPr wrap="square" lIns="0" tIns="0" rIns="0" bIns="0" anchor="t">
            <a:noAutofit/>
          </a:bodyPr>
          <a:lstStyle/>
          <a:p>
            <a:pPr marL="0" indent="0" algn="l">
              <a:buNone/>
            </a:pPr>
            <a:r>
              <a:rPr sz="1200" b="1" i="0">
                <a:solidFill>
                  <a:srgbClr val="1E2761"/>
                </a:solidFill>
                <a:latin typeface="Calibri"/>
                <a:ea typeface="Calibri"/>
                <a:cs typeface="Calibri"/>
              </a:rPr>
              <a:t>STM32CubeIDE + STM32CubeMX</a:t>
            </a:r>
          </a:p>
          <a:p>
            <a:pPr marL="0" indent="0" algn="l">
              <a:spcBef>
                <a:spcPts val="200"/>
              </a:spcBef>
              <a:buNone/>
            </a:pPr>
            <a:r>
              <a:rPr sz="1050" b="0" i="0">
                <a:solidFill>
                  <a:srgbClr val="1A1A2E"/>
                </a:solidFill>
                <a:latin typeface="Calibri"/>
                <a:ea typeface="Calibri"/>
                <a:cs typeface="Calibri"/>
              </a:rPr>
              <a:t>Embedded C with HAL/LL drivers for timers, DMA, UART and I2C</a:t>
            </a:r>
          </a:p>
        </p:txBody>
      </p:sp>
      <p:sp>
        <p:nvSpPr>
          <p:cNvPr id="12" name="Oval 11">
            <a:extLst>
              <a:ext uri="{FF2B5EF4-FFF2-40B4-BE49-F238E27FC236}">
                <a16:creationId xmlns:a16="http://schemas.microsoft.com/office/drawing/2014/main" id="{E7E8FF12-FD3C-4666-B6B2-2BBD490EB1BC}"/>
              </a:ext>
            </a:extLst>
          </p:cNvPr>
          <p:cNvSpPr>
            <a:spLocks noGrp="1"/>
          </p:cNvSpPr>
          <p:nvPr/>
        </p:nvSpPr>
        <p:spPr>
          <a:xfrm>
            <a:off x="8641080" y="2907792"/>
            <a:ext cx="310896" cy="310896"/>
          </a:xfrm>
          <a:prstGeom prst="ellipse">
            <a:avLst/>
          </a:prstGeom>
          <a:solidFill>
            <a:srgbClr val="3D5AFE"/>
          </a:solidFill>
          <a:ln>
            <a:noFill/>
          </a:ln>
        </p:spPr>
        <p:txBody>
          <a:bodyPr wrap="square" lIns="0" tIns="0" rIns="0" bIns="0" anchor="ctr">
            <a:noAutofit/>
          </a:bodyPr>
          <a:lstStyle/>
          <a:p>
            <a:pPr marL="0" indent="0" algn="ctr">
              <a:buNone/>
            </a:pPr>
            <a:r>
              <a:rPr sz="1200" b="1" i="0">
                <a:solidFill>
                  <a:srgbClr val="FFFFFF"/>
                </a:solidFill>
                <a:latin typeface="Calibri"/>
                <a:ea typeface="Calibri"/>
                <a:cs typeface="Calibri"/>
              </a:rPr>
              <a:t>2</a:t>
            </a:r>
          </a:p>
        </p:txBody>
      </p:sp>
      <p:sp>
        <p:nvSpPr>
          <p:cNvPr id="13" name="TextBox 12">
            <a:extLst>
              <a:ext uri="{FF2B5EF4-FFF2-40B4-BE49-F238E27FC236}">
                <a16:creationId xmlns:a16="http://schemas.microsoft.com/office/drawing/2014/main" id="{AADB7AE8-9A2B-4276-BF7B-26759B364145}"/>
              </a:ext>
            </a:extLst>
          </p:cNvPr>
          <p:cNvSpPr>
            <a:spLocks noGrp="1"/>
          </p:cNvSpPr>
          <p:nvPr/>
        </p:nvSpPr>
        <p:spPr>
          <a:xfrm>
            <a:off x="9070848" y="2889504"/>
            <a:ext cx="2450591" cy="777240"/>
          </a:xfrm>
          <a:prstGeom prst="rect">
            <a:avLst/>
          </a:prstGeom>
          <a:noFill/>
        </p:spPr>
        <p:txBody>
          <a:bodyPr wrap="square" lIns="0" tIns="0" rIns="0" bIns="0" anchor="t">
            <a:noAutofit/>
          </a:bodyPr>
          <a:lstStyle/>
          <a:p>
            <a:pPr marL="0" indent="0" algn="l">
              <a:buNone/>
            </a:pPr>
            <a:r>
              <a:rPr sz="1200" b="1" i="0">
                <a:solidFill>
                  <a:srgbClr val="1E2761"/>
                </a:solidFill>
                <a:latin typeface="Calibri"/>
                <a:ea typeface="Calibri"/>
                <a:cs typeface="Calibri"/>
              </a:rPr>
              <a:t>Arduino IDE or ESP-IDF</a:t>
            </a:r>
          </a:p>
          <a:p>
            <a:pPr marL="0" indent="0" algn="l">
              <a:spcBef>
                <a:spcPts val="200"/>
              </a:spcBef>
              <a:buNone/>
            </a:pPr>
            <a:r>
              <a:rPr sz="1050" b="0" i="0">
                <a:solidFill>
                  <a:srgbClr val="1A1A2E"/>
                </a:solidFill>
                <a:latin typeface="Calibri"/>
                <a:ea typeface="Calibri"/>
                <a:cs typeface="Calibri"/>
              </a:rPr>
              <a:t>ESP32 firmware for RSSI scans, test packets and Wi-Fi upload</a:t>
            </a:r>
          </a:p>
        </p:txBody>
      </p:sp>
      <p:sp>
        <p:nvSpPr>
          <p:cNvPr id="14" name="Oval 13">
            <a:extLst>
              <a:ext uri="{FF2B5EF4-FFF2-40B4-BE49-F238E27FC236}">
                <a16:creationId xmlns:a16="http://schemas.microsoft.com/office/drawing/2014/main" id="{18263508-092E-4D61-BA90-177418DC4887}"/>
              </a:ext>
            </a:extLst>
          </p:cNvPr>
          <p:cNvSpPr>
            <a:spLocks noGrp="1"/>
          </p:cNvSpPr>
          <p:nvPr/>
        </p:nvSpPr>
        <p:spPr>
          <a:xfrm>
            <a:off x="8641080" y="3767327"/>
            <a:ext cx="310896" cy="310896"/>
          </a:xfrm>
          <a:prstGeom prst="ellipse">
            <a:avLst/>
          </a:prstGeom>
          <a:solidFill>
            <a:srgbClr val="3D5AFE"/>
          </a:solidFill>
          <a:ln>
            <a:noFill/>
          </a:ln>
        </p:spPr>
        <p:txBody>
          <a:bodyPr wrap="square" lIns="0" tIns="0" rIns="0" bIns="0" anchor="ctr">
            <a:noAutofit/>
          </a:bodyPr>
          <a:lstStyle/>
          <a:p>
            <a:pPr marL="0" indent="0" algn="ctr">
              <a:buNone/>
            </a:pPr>
            <a:r>
              <a:rPr sz="1200" b="1" i="0">
                <a:solidFill>
                  <a:srgbClr val="FFFFFF"/>
                </a:solidFill>
                <a:latin typeface="Calibri"/>
                <a:ea typeface="Calibri"/>
                <a:cs typeface="Calibri"/>
              </a:rPr>
              <a:t>3</a:t>
            </a:r>
          </a:p>
        </p:txBody>
      </p:sp>
      <p:sp>
        <p:nvSpPr>
          <p:cNvPr id="15" name="TextBox 14">
            <a:extLst>
              <a:ext uri="{FF2B5EF4-FFF2-40B4-BE49-F238E27FC236}">
                <a16:creationId xmlns:a16="http://schemas.microsoft.com/office/drawing/2014/main" id="{B0786878-049B-4C34-BF50-EB24FE5DDAFB}"/>
              </a:ext>
            </a:extLst>
          </p:cNvPr>
          <p:cNvSpPr>
            <a:spLocks noGrp="1"/>
          </p:cNvSpPr>
          <p:nvPr/>
        </p:nvSpPr>
        <p:spPr>
          <a:xfrm>
            <a:off x="9070848" y="3749039"/>
            <a:ext cx="2450591" cy="777240"/>
          </a:xfrm>
          <a:prstGeom prst="rect">
            <a:avLst/>
          </a:prstGeom>
          <a:noFill/>
        </p:spPr>
        <p:txBody>
          <a:bodyPr wrap="square" lIns="0" tIns="0" rIns="0" bIns="0" anchor="t">
            <a:noAutofit/>
          </a:bodyPr>
          <a:lstStyle/>
          <a:p>
            <a:pPr marL="0" indent="0" algn="l">
              <a:buNone/>
            </a:pPr>
            <a:r>
              <a:rPr sz="1200" b="1" i="0">
                <a:solidFill>
                  <a:srgbClr val="1E2761"/>
                </a:solidFill>
                <a:latin typeface="Calibri"/>
                <a:ea typeface="Calibri"/>
                <a:cs typeface="Calibri"/>
              </a:rPr>
              <a:t>Python 3 (NumPy, Matplotlib)</a:t>
            </a:r>
          </a:p>
          <a:p>
            <a:pPr marL="0" indent="0" algn="l">
              <a:spcBef>
                <a:spcPts val="200"/>
              </a:spcBef>
              <a:buNone/>
            </a:pPr>
            <a:r>
              <a:rPr sz="1050" b="0" i="0">
                <a:solidFill>
                  <a:srgbClr val="1A1A2E"/>
                </a:solidFill>
                <a:latin typeface="Calibri"/>
                <a:ea typeface="Calibri"/>
                <a:cs typeface="Calibri"/>
              </a:rPr>
              <a:t>Laptop dashboard, heat maps and waveform plots</a:t>
            </a:r>
          </a:p>
        </p:txBody>
      </p:sp>
      <p:sp>
        <p:nvSpPr>
          <p:cNvPr id="16" name="Oval 15">
            <a:extLst>
              <a:ext uri="{FF2B5EF4-FFF2-40B4-BE49-F238E27FC236}">
                <a16:creationId xmlns:a16="http://schemas.microsoft.com/office/drawing/2014/main" id="{E33FB628-C7F4-40B2-B974-DF127D989189}"/>
              </a:ext>
            </a:extLst>
          </p:cNvPr>
          <p:cNvSpPr>
            <a:spLocks noGrp="1"/>
          </p:cNvSpPr>
          <p:nvPr/>
        </p:nvSpPr>
        <p:spPr>
          <a:xfrm>
            <a:off x="8641080" y="4626864"/>
            <a:ext cx="310896" cy="310896"/>
          </a:xfrm>
          <a:prstGeom prst="ellipse">
            <a:avLst/>
          </a:prstGeom>
          <a:solidFill>
            <a:srgbClr val="3D5AFE"/>
          </a:solidFill>
          <a:ln>
            <a:noFill/>
          </a:ln>
        </p:spPr>
        <p:txBody>
          <a:bodyPr wrap="square" lIns="0" tIns="0" rIns="0" bIns="0" anchor="ctr">
            <a:noAutofit/>
          </a:bodyPr>
          <a:lstStyle/>
          <a:p>
            <a:pPr marL="0" indent="0" algn="ctr">
              <a:buNone/>
            </a:pPr>
            <a:r>
              <a:rPr sz="1200" b="1" i="0">
                <a:solidFill>
                  <a:srgbClr val="FFFFFF"/>
                </a:solidFill>
                <a:latin typeface="Calibri"/>
                <a:ea typeface="Calibri"/>
                <a:cs typeface="Calibri"/>
              </a:rPr>
              <a:t>4</a:t>
            </a:r>
          </a:p>
        </p:txBody>
      </p:sp>
      <p:sp>
        <p:nvSpPr>
          <p:cNvPr id="17" name="TextBox 16">
            <a:extLst>
              <a:ext uri="{FF2B5EF4-FFF2-40B4-BE49-F238E27FC236}">
                <a16:creationId xmlns:a16="http://schemas.microsoft.com/office/drawing/2014/main" id="{DB6AB209-4276-4238-8A50-A42F6E80F730}"/>
              </a:ext>
            </a:extLst>
          </p:cNvPr>
          <p:cNvSpPr>
            <a:spLocks noGrp="1"/>
          </p:cNvSpPr>
          <p:nvPr/>
        </p:nvSpPr>
        <p:spPr>
          <a:xfrm>
            <a:off x="9070848" y="4608576"/>
            <a:ext cx="2450591" cy="777240"/>
          </a:xfrm>
          <a:prstGeom prst="rect">
            <a:avLst/>
          </a:prstGeom>
          <a:noFill/>
        </p:spPr>
        <p:txBody>
          <a:bodyPr wrap="square" lIns="0" tIns="0" rIns="0" bIns="0" anchor="t">
            <a:noAutofit/>
          </a:bodyPr>
          <a:lstStyle/>
          <a:p>
            <a:pPr marL="0" indent="0" algn="l">
              <a:buNone/>
            </a:pPr>
            <a:r>
              <a:rPr sz="1200" b="1" i="0">
                <a:solidFill>
                  <a:srgbClr val="1E2761"/>
                </a:solidFill>
                <a:latin typeface="Calibri"/>
                <a:ea typeface="Calibri"/>
                <a:cs typeface="Calibri"/>
              </a:rPr>
              <a:t>PulseView / sigrok (optional)</a:t>
            </a:r>
          </a:p>
          <a:p>
            <a:pPr marL="0" indent="0" algn="l">
              <a:spcBef>
                <a:spcPts val="200"/>
              </a:spcBef>
              <a:buNone/>
            </a:pPr>
            <a:r>
              <a:rPr sz="1050" b="0" i="0">
                <a:solidFill>
                  <a:srgbClr val="1A1A2E"/>
                </a:solidFill>
                <a:latin typeface="Calibri"/>
                <a:ea typeface="Calibri"/>
                <a:cs typeface="Calibri"/>
              </a:rPr>
              <a:t>Reference captures to cross-check decoded signals</a:t>
            </a:r>
          </a:p>
        </p:txBody>
      </p:sp>
      <p:sp>
        <p:nvSpPr>
          <p:cNvPr id="18" name="TextBox 17">
            <a:extLst>
              <a:ext uri="{FF2B5EF4-FFF2-40B4-BE49-F238E27FC236}">
                <a16:creationId xmlns:a16="http://schemas.microsoft.com/office/drawing/2014/main" id="{E8262C40-21D0-4A4D-9750-981469A0D880}"/>
              </a:ext>
            </a:extLst>
          </p:cNvPr>
          <p:cNvSpPr>
            <a:spLocks noGrp="1"/>
          </p:cNvSpPr>
          <p:nvPr/>
        </p:nvSpPr>
        <p:spPr>
          <a:xfrm>
            <a:off x="457200" y="5760720"/>
            <a:ext cx="11274552" cy="292608"/>
          </a:xfrm>
          <a:prstGeom prst="rect">
            <a:avLst/>
          </a:prstGeom>
          <a:noFill/>
        </p:spPr>
        <p:txBody>
          <a:bodyPr wrap="square" lIns="0" tIns="0" rIns="0" bIns="0" anchor="ctr">
            <a:noAutofit/>
          </a:bodyPr>
          <a:lstStyle/>
          <a:p>
            <a:pPr marL="0" indent="0" algn="l">
              <a:buNone/>
            </a:pPr>
            <a:r>
              <a:rPr sz="1050" b="0" i="1">
                <a:solidFill>
                  <a:srgbClr val="5A5A6E"/>
                </a:solidFill>
                <a:latin typeface="Calibri"/>
                <a:ea typeface="Calibri"/>
                <a:cs typeface="Calibri"/>
              </a:rPr>
              <a:t>Specifications are from manufacturer datasheets; exact motor, encoder and battery ratings will be finalised during hardware selection.</a:t>
            </a:r>
          </a:p>
        </p:txBody>
      </p:sp>
    </p:spTree>
    <p:extLst>
      <p:ext uri="{BB962C8B-B14F-4D97-AF65-F5344CB8AC3E}">
        <p14:creationId xmlns:p14="http://schemas.microsoft.com/office/powerpoint/2010/main" val="2143514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803F2039-E9ED-4047-B5C7-952DACA016D2}"/>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9CF5F646-92AB-454A-8DBD-A07EC824B91D}"/>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RESULT AND DISCUSSION</a:t>
            </a:r>
            <a:endParaRPr sz="3000"/>
          </a:p>
        </p:txBody>
      </p:sp>
      <p:sp>
        <p:nvSpPr>
          <p:cNvPr id="5" name="Text 2">
            <a:extLst>
              <a:ext uri="{FF2B5EF4-FFF2-40B4-BE49-F238E27FC236}">
                <a16:creationId xmlns:a16="http://schemas.microsoft.com/office/drawing/2014/main" id="{1C36F35B-36FD-4F2B-8FAB-75F3E0C7CC8D}"/>
              </a:ext>
            </a:extLst>
          </p:cNvPr>
          <p:cNvSpPr>
            <a:spLocks noGrp="1"/>
          </p:cNvSpPr>
          <p:nvPr/>
        </p:nvSpPr>
        <p:spPr>
          <a:xfrm>
            <a:off x="640080" y="1463040"/>
            <a:ext cx="5760720" cy="4480560"/>
          </a:xfrm>
          <a:prstGeom prst="rect">
            <a:avLst/>
          </a:prstGeom>
          <a:noFill/>
        </p:spPr>
        <p:txBody>
          <a:bodyPr wrap="square" anchor="t"/>
          <a:lstStyle/>
          <a:p>
            <a:pPr marL="228600" indent="-228600">
              <a:spcAft>
                <a:spcPts val="1000"/>
              </a:spcAft>
              <a:buSzPct val="100000"/>
              <a:buChar char="●"/>
            </a:pPr>
            <a:r>
              <a:rPr sz="1400">
                <a:solidFill>
                  <a:srgbClr val="1A1A2E"/>
                </a:solidFill>
                <a:latin typeface="Calibri"/>
                <a:ea typeface="Calibri"/>
                <a:cs typeface="Calibri"/>
              </a:rPr>
              <a:t>Successful autonomous movement of the rover and reliable capture of UART/GPIO signals.</a:t>
            </a:r>
            <a:endParaRPr sz="1400"/>
          </a:p>
          <a:p>
            <a:pPr marL="228600" indent="-228600">
              <a:spcAft>
                <a:spcPts val="1000"/>
              </a:spcAft>
              <a:buSzPct val="100000"/>
              <a:buChar char="●"/>
            </a:pPr>
            <a:r>
              <a:rPr sz="1400">
                <a:solidFill>
                  <a:srgbClr val="1A1A2E"/>
                </a:solidFill>
                <a:latin typeface="Calibri"/>
                <a:ea typeface="Calibri"/>
                <a:cs typeface="Calibri"/>
              </a:rPr>
              <a:t>Correct decoding of a UART message such as "HELLO PROFESSOR".</a:t>
            </a:r>
            <a:endParaRPr sz="1400"/>
          </a:p>
          <a:p>
            <a:pPr marL="228600" indent="-228600">
              <a:spcAft>
                <a:spcPts val="1000"/>
              </a:spcAft>
              <a:buSzPct val="100000"/>
              <a:buChar char="●"/>
            </a:pPr>
            <a:r>
              <a:rPr sz="1400">
                <a:solidFill>
                  <a:srgbClr val="1A1A2E"/>
                </a:solidFill>
                <a:latin typeface="Calibri"/>
                <a:ea typeface="Calibri"/>
                <a:cs typeface="Calibri"/>
              </a:rPr>
              <a:t>Measurement of wireless signal strength, with detection of packet loss and communication errors.</a:t>
            </a:r>
            <a:endParaRPr sz="1400"/>
          </a:p>
          <a:p>
            <a:pPr marL="228600" indent="-228600">
              <a:spcAft>
                <a:spcPts val="1000"/>
              </a:spcAft>
              <a:buSzPct val="100000"/>
              <a:buChar char="●"/>
            </a:pPr>
            <a:r>
              <a:rPr sz="1400">
                <a:solidFill>
                  <a:srgbClr val="1A1A2E"/>
                </a:solidFill>
                <a:latin typeface="Calibri"/>
                <a:ea typeface="Calibri"/>
                <a:cs typeface="Calibri"/>
              </a:rPr>
              <a:t>Generation of a spatial signal-strength heat map identifying weak-signal / high-error areas.</a:t>
            </a:r>
            <a:endParaRPr sz="1400"/>
          </a:p>
          <a:p>
            <a:pPr marL="228600" indent="-228600">
              <a:spcAft>
                <a:spcPts val="1000"/>
              </a:spcAft>
              <a:buSzPct val="100000"/>
              <a:buChar char="●"/>
            </a:pPr>
            <a:r>
              <a:rPr sz="1400">
                <a:solidFill>
                  <a:srgbClr val="1A1A2E"/>
                </a:solidFill>
                <a:latin typeface="Calibri"/>
                <a:ea typeface="Calibri"/>
                <a:cs typeface="Calibri"/>
              </a:rPr>
              <a:t>A position-tagged measurement database and a working laptop dashboard for real-time monitoring.</a:t>
            </a:r>
            <a:endParaRPr sz="1400"/>
          </a:p>
        </p:txBody>
      </p:sp>
      <p:sp>
        <p:nvSpPr>
          <p:cNvPr id="6" name="Shape 3">
            <a:extLst>
              <a:ext uri="{FF2B5EF4-FFF2-40B4-BE49-F238E27FC236}">
                <a16:creationId xmlns:a16="http://schemas.microsoft.com/office/drawing/2014/main" id="{D06690DB-229E-44B4-833D-2A01E466FC18}"/>
              </a:ext>
            </a:extLst>
          </p:cNvPr>
          <p:cNvSpPr>
            <a:spLocks noGrp="1"/>
          </p:cNvSpPr>
          <p:nvPr/>
        </p:nvSpPr>
        <p:spPr>
          <a:xfrm>
            <a:off x="6629400" y="1463040"/>
            <a:ext cx="4892040" cy="2743200"/>
          </a:xfrm>
          <a:prstGeom prst="roundRect">
            <a:avLst>
              <a:gd name="adj" fmla="val 2667"/>
            </a:avLst>
          </a:prstGeom>
          <a:solidFill>
            <a:srgbClr val="1E2761"/>
          </a:solidFill>
        </p:spPr>
        <p:txBody>
          <a:bodyPr/>
          <a:lstStyle/>
          <a:p>
            <a:endParaRPr lang="en-US"/>
          </a:p>
        </p:txBody>
      </p:sp>
      <p:sp>
        <p:nvSpPr>
          <p:cNvPr id="7" name="Text 4">
            <a:extLst>
              <a:ext uri="{FF2B5EF4-FFF2-40B4-BE49-F238E27FC236}">
                <a16:creationId xmlns:a16="http://schemas.microsoft.com/office/drawing/2014/main" id="{A08B3E79-0215-4E0D-B4B4-62B35636FB65}"/>
              </a:ext>
            </a:extLst>
          </p:cNvPr>
          <p:cNvSpPr>
            <a:spLocks noGrp="1"/>
          </p:cNvSpPr>
          <p:nvPr/>
        </p:nvSpPr>
        <p:spPr>
          <a:xfrm>
            <a:off x="6903720" y="1600200"/>
            <a:ext cx="4389120" cy="365760"/>
          </a:xfrm>
          <a:prstGeom prst="rect">
            <a:avLst/>
          </a:prstGeom>
          <a:noFill/>
        </p:spPr>
        <p:txBody>
          <a:bodyPr wrap="square" anchor="ctr"/>
          <a:lstStyle/>
          <a:p>
            <a:pPr marL="0" indent="0">
              <a:buNone/>
            </a:pPr>
            <a:r>
              <a:rPr sz="1400" b="1">
                <a:solidFill>
                  <a:srgbClr val="CADCFC"/>
                </a:solidFill>
                <a:latin typeface="Calibri"/>
                <a:ea typeface="Calibri"/>
                <a:cs typeface="Calibri"/>
              </a:rPr>
              <a:t>Sample Output</a:t>
            </a:r>
            <a:endParaRPr sz="1400"/>
          </a:p>
        </p:txBody>
      </p:sp>
      <p:sp>
        <p:nvSpPr>
          <p:cNvPr id="8" name="Text 5">
            <a:extLst>
              <a:ext uri="{FF2B5EF4-FFF2-40B4-BE49-F238E27FC236}">
                <a16:creationId xmlns:a16="http://schemas.microsoft.com/office/drawing/2014/main" id="{EDE274FB-B2D7-456C-92CF-2D215C4F49DE}"/>
              </a:ext>
            </a:extLst>
          </p:cNvPr>
          <p:cNvSpPr>
            <a:spLocks noGrp="1"/>
          </p:cNvSpPr>
          <p:nvPr/>
        </p:nvSpPr>
        <p:spPr>
          <a:xfrm>
            <a:off x="6903720" y="2011680"/>
            <a:ext cx="4389120" cy="2103120"/>
          </a:xfrm>
          <a:prstGeom prst="rect">
            <a:avLst/>
          </a:prstGeom>
          <a:noFill/>
        </p:spPr>
        <p:txBody>
          <a:bodyPr wrap="square" anchor="t"/>
          <a:lstStyle/>
          <a:p>
            <a:pPr marL="0" indent="0">
              <a:lnSpc>
                <a:spcPct val="120000"/>
              </a:lnSpc>
              <a:buNone/>
            </a:pPr>
            <a:r>
              <a:rPr sz="1250">
                <a:solidFill>
                  <a:srgbClr val="FFFFFF"/>
                </a:solidFill>
                <a:latin typeface="Courier New"/>
                <a:ea typeface="Courier New"/>
                <a:cs typeface="Courier New"/>
              </a:rPr>
              <a:t>UART CH0: HELLO PROFESSOR</a:t>
            </a:r>
            <a:endParaRPr sz="1250"/>
          </a:p>
          <a:p>
            <a:pPr marL="0" indent="0">
              <a:lnSpc>
                <a:spcPct val="120000"/>
              </a:lnSpc>
              <a:buNone/>
            </a:pPr>
            <a:endParaRPr sz="1250"/>
          </a:p>
          <a:p>
            <a:pPr marL="0" indent="0">
              <a:lnSpc>
                <a:spcPct val="120000"/>
              </a:lnSpc>
              <a:buNone/>
            </a:pPr>
            <a:r>
              <a:rPr sz="1250">
                <a:solidFill>
                  <a:srgbClr val="FFFFFF"/>
                </a:solidFill>
                <a:latin typeface="Courier New"/>
                <a:ea typeface="Courier New"/>
                <a:cs typeface="Courier New"/>
              </a:rPr>
              <a:t>Measurement Location: X = 2.40 m, Y = 1.80 m</a:t>
            </a:r>
            <a:endParaRPr sz="1250"/>
          </a:p>
          <a:p>
            <a:pPr marL="0" indent="0">
              <a:lnSpc>
                <a:spcPct val="120000"/>
              </a:lnSpc>
              <a:buNone/>
            </a:pPr>
            <a:r>
              <a:rPr sz="1250">
                <a:solidFill>
                  <a:srgbClr val="FFFFFF"/>
                </a:solidFill>
                <a:latin typeface="Courier New"/>
                <a:ea typeface="Courier New"/>
                <a:cs typeface="Courier New"/>
              </a:rPr>
              <a:t>RSSI: -72 dBm</a:t>
            </a:r>
            <a:endParaRPr sz="1250"/>
          </a:p>
          <a:p>
            <a:pPr marL="0" indent="0">
              <a:lnSpc>
                <a:spcPct val="120000"/>
              </a:lnSpc>
              <a:buNone/>
            </a:pPr>
            <a:r>
              <a:rPr sz="1250">
                <a:solidFill>
                  <a:srgbClr val="FFFFFF"/>
                </a:solidFill>
                <a:latin typeface="Courier New"/>
                <a:ea typeface="Courier New"/>
                <a:cs typeface="Courier New"/>
              </a:rPr>
              <a:t>Packet Loss: 11.5%</a:t>
            </a:r>
            <a:endParaRPr sz="1250"/>
          </a:p>
          <a:p>
            <a:pPr marL="0" indent="0">
              <a:lnSpc>
                <a:spcPct val="120000"/>
              </a:lnSpc>
              <a:buNone/>
            </a:pPr>
            <a:r>
              <a:rPr sz="1250">
                <a:solidFill>
                  <a:srgbClr val="FFFFFF"/>
                </a:solidFill>
                <a:latin typeface="Courier New"/>
                <a:ea typeface="Courier New"/>
                <a:cs typeface="Courier New"/>
              </a:rPr>
              <a:t>UART Errors: 3</a:t>
            </a:r>
            <a:endParaRPr sz="1250"/>
          </a:p>
          <a:p>
            <a:pPr marL="0" indent="0">
              <a:lnSpc>
                <a:spcPct val="120000"/>
              </a:lnSpc>
              <a:buNone/>
            </a:pPr>
            <a:r>
              <a:rPr sz="1250">
                <a:solidFill>
                  <a:srgbClr val="FFFFFF"/>
                </a:solidFill>
                <a:latin typeface="Courier New"/>
                <a:ea typeface="Courier New"/>
                <a:cs typeface="Courier New"/>
              </a:rPr>
              <a:t>Signal Quality: Poor</a:t>
            </a:r>
            <a:endParaRPr sz="1250"/>
          </a:p>
        </p:txBody>
      </p:sp>
      <p:graphicFrame>
        <p:nvGraphicFramePr>
          <p:cNvPr id="20" name="Table 0"/>
          <p:cNvGraphicFramePr/>
          <p:nvPr/>
        </p:nvGraphicFramePr>
        <p:xfrm>
          <a:off x="6629400" y="4434840"/>
          <a:ext cx="4892040" cy="1600200"/>
        </p:xfrm>
        <a:graphic>
          <a:graphicData uri="http://schemas.openxmlformats.org/drawingml/2006/table">
            <a:tbl>
              <a:tblPr/>
              <a:tblGrid>
                <a:gridCol w="32461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20040">
                <a:tc>
                  <a:txBody>
                    <a:bodyPr/>
                    <a:lstStyle/>
                    <a:p>
                      <a:pPr marL="0" indent="0" algn="ctr">
                        <a:buNone/>
                      </a:pPr>
                      <a:r>
                        <a:rPr sz="1150" b="1">
                          <a:solidFill>
                            <a:srgbClr val="FFFFFF"/>
                          </a:solidFill>
                          <a:latin typeface="Calibri"/>
                          <a:ea typeface="Calibri"/>
                          <a:cs typeface="Calibri"/>
                        </a:rPr>
                        <a:t>Evaluation Parameter</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tc>
                  <a:txBody>
                    <a:bodyPr/>
                    <a:lstStyle/>
                    <a:p>
                      <a:pPr marL="0" indent="0" algn="ctr">
                        <a:buNone/>
                      </a:pPr>
                      <a:r>
                        <a:rPr sz="1150" b="1">
                          <a:solidFill>
                            <a:srgbClr val="FFFFFF"/>
                          </a:solidFill>
                          <a:latin typeface="Calibri"/>
                          <a:ea typeface="Calibri"/>
                          <a:cs typeface="Calibri"/>
                        </a:rPr>
                        <a:t>Target</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1E2761"/>
                    </a:solidFill>
                  </a:tcPr>
                </a:tc>
                <a:extLst>
                  <a:ext uri="{0D108BD9-81ED-4DB2-BD59-A6C34878D82A}">
                    <a16:rowId xmlns:a16="http://schemas.microsoft.com/office/drawing/2014/main" val="10000"/>
                  </a:ext>
                </a:extLst>
              </a:tr>
              <a:tr h="320040">
                <a:tc>
                  <a:txBody>
                    <a:bodyPr/>
                    <a:lstStyle/>
                    <a:p>
                      <a:pPr marL="0" indent="0" algn="l">
                        <a:buNone/>
                      </a:pPr>
                      <a:r>
                        <a:rPr sz="1150">
                          <a:solidFill>
                            <a:srgbClr val="1A1A2E"/>
                          </a:solidFill>
                          <a:latin typeface="Calibri"/>
                          <a:ea typeface="Calibri"/>
                          <a:cs typeface="Calibri"/>
                        </a:rPr>
                        <a:t>UART decoding accuracy</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150">
                          <a:solidFill>
                            <a:srgbClr val="1A1A2E"/>
                          </a:solidFill>
                          <a:latin typeface="Calibri"/>
                          <a:ea typeface="Calibri"/>
                          <a:cs typeface="Calibri"/>
                        </a:rPr>
                        <a:t>&gt; 95%</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1"/>
                  </a:ext>
                </a:extLst>
              </a:tr>
              <a:tr h="320040">
                <a:tc>
                  <a:txBody>
                    <a:bodyPr/>
                    <a:lstStyle/>
                    <a:p>
                      <a:pPr marL="0" indent="0" algn="l">
                        <a:buNone/>
                      </a:pPr>
                      <a:r>
                        <a:rPr sz="1150">
                          <a:solidFill>
                            <a:srgbClr val="1A1A2E"/>
                          </a:solidFill>
                          <a:latin typeface="Calibri"/>
                          <a:ea typeface="Calibri"/>
                          <a:cs typeface="Calibri"/>
                        </a:rPr>
                        <a:t>Position error</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150">
                          <a:solidFill>
                            <a:srgbClr val="1A1A2E"/>
                          </a:solidFill>
                          <a:latin typeface="Calibri"/>
                          <a:ea typeface="Calibri"/>
                          <a:cs typeface="Calibri"/>
                        </a:rPr>
                        <a:t>&lt; 20 cm (short range)</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2"/>
                  </a:ext>
                </a:extLst>
              </a:tr>
              <a:tr h="320040">
                <a:tc>
                  <a:txBody>
                    <a:bodyPr/>
                    <a:lstStyle/>
                    <a:p>
                      <a:pPr marL="0" indent="0" algn="l">
                        <a:buNone/>
                      </a:pPr>
                      <a:r>
                        <a:rPr sz="1150">
                          <a:solidFill>
                            <a:srgbClr val="1A1A2E"/>
                          </a:solidFill>
                          <a:latin typeface="Calibri"/>
                          <a:ea typeface="Calibri"/>
                          <a:cs typeface="Calibri"/>
                        </a:rPr>
                        <a:t>Successful measurement points</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tc>
                  <a:txBody>
                    <a:bodyPr/>
                    <a:lstStyle/>
                    <a:p>
                      <a:pPr marL="0" indent="0" algn="ctr">
                        <a:buNone/>
                      </a:pPr>
                      <a:r>
                        <a:rPr sz="1150">
                          <a:solidFill>
                            <a:srgbClr val="1A1A2E"/>
                          </a:solidFill>
                          <a:latin typeface="Calibri"/>
                          <a:ea typeface="Calibri"/>
                          <a:cs typeface="Calibri"/>
                        </a:rPr>
                        <a:t>At least 20</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CADCFC"/>
                    </a:solidFill>
                  </a:tcPr>
                </a:tc>
                <a:extLst>
                  <a:ext uri="{0D108BD9-81ED-4DB2-BD59-A6C34878D82A}">
                    <a16:rowId xmlns:a16="http://schemas.microsoft.com/office/drawing/2014/main" val="10003"/>
                  </a:ext>
                </a:extLst>
              </a:tr>
              <a:tr h="320040">
                <a:tc>
                  <a:txBody>
                    <a:bodyPr/>
                    <a:lstStyle/>
                    <a:p>
                      <a:pPr marL="0" indent="0" algn="l">
                        <a:buNone/>
                      </a:pPr>
                      <a:r>
                        <a:rPr sz="1150">
                          <a:solidFill>
                            <a:srgbClr val="1A1A2E"/>
                          </a:solidFill>
                          <a:latin typeface="Calibri"/>
                          <a:ea typeface="Calibri"/>
                          <a:cs typeface="Calibri"/>
                        </a:rPr>
                        <a:t>Rover operating time</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tc>
                  <a:txBody>
                    <a:bodyPr/>
                    <a:lstStyle/>
                    <a:p>
                      <a:pPr marL="0" indent="0" algn="ctr">
                        <a:buNone/>
                      </a:pPr>
                      <a:r>
                        <a:rPr sz="1150">
                          <a:solidFill>
                            <a:srgbClr val="1A1A2E"/>
                          </a:solidFill>
                          <a:latin typeface="Calibri"/>
                          <a:ea typeface="Calibri"/>
                          <a:cs typeface="Calibri"/>
                        </a:rPr>
                        <a:t>At least 20 min</a:t>
                      </a:r>
                      <a:endParaRPr sz="1150">
                        <a:latin typeface="Calibri"/>
                        <a:ea typeface="Calibri"/>
                        <a:cs typeface="Calibri"/>
                      </a:endParaRPr>
                    </a:p>
                  </a:txBody>
                  <a:tcPr anchor="ctr">
                    <a:lnL w="9525" cmpd="sng">
                      <a:solidFill>
                        <a:srgbClr val="CCCCCC"/>
                      </a:solidFill>
                      <a:prstDash val="solid"/>
                    </a:lnL>
                    <a:lnR w="9525" cmpd="sng">
                      <a:solidFill>
                        <a:srgbClr val="CCCCCC"/>
                      </a:solidFill>
                      <a:prstDash val="solid"/>
                    </a:lnR>
                    <a:lnT w="9525" cmpd="sng">
                      <a:solidFill>
                        <a:srgbClr val="CCCCCC"/>
                      </a:solidFill>
                      <a:prstDash val="solid"/>
                    </a:lnT>
                    <a:lnB w="9525" cmpd="sng">
                      <a:solidFill>
                        <a:srgbClr val="CCCCCC"/>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0" name="Text 6">
            <a:extLst>
              <a:ext uri="{FF2B5EF4-FFF2-40B4-BE49-F238E27FC236}">
                <a16:creationId xmlns:a16="http://schemas.microsoft.com/office/drawing/2014/main" id="{9C089BAC-72A1-4CB0-B24C-65E0BEA458D8}"/>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15</a:t>
            </a:r>
            <a:endParaRPr sz="1100"/>
          </a:p>
        </p:txBody>
      </p:sp>
    </p:spTree>
    <p:extLst>
      <p:ext uri="{BB962C8B-B14F-4D97-AF65-F5344CB8AC3E}">
        <p14:creationId xmlns:p14="http://schemas.microsoft.com/office/powerpoint/2010/main" val="8279179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87FFAE96-499A-477C-8740-B58DF76D8C02}"/>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2A3CB467-9BCC-4D88-B388-513967FAEA78}"/>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CONCLUSIONS</a:t>
            </a:r>
            <a:endParaRPr sz="3000"/>
          </a:p>
        </p:txBody>
      </p:sp>
      <p:sp>
        <p:nvSpPr>
          <p:cNvPr id="5" name="Text 2">
            <a:extLst>
              <a:ext uri="{FF2B5EF4-FFF2-40B4-BE49-F238E27FC236}">
                <a16:creationId xmlns:a16="http://schemas.microsoft.com/office/drawing/2014/main" id="{093B50B2-1E14-4AFE-8BB3-7B4E884E2654}"/>
              </a:ext>
            </a:extLst>
          </p:cNvPr>
          <p:cNvSpPr>
            <a:spLocks noGrp="1"/>
          </p:cNvSpPr>
          <p:nvPr/>
        </p:nvSpPr>
        <p:spPr>
          <a:xfrm>
            <a:off x="731520" y="1508760"/>
            <a:ext cx="10698480" cy="4572000"/>
          </a:xfrm>
          <a:prstGeom prst="rect">
            <a:avLst/>
          </a:prstGeom>
          <a:noFill/>
        </p:spPr>
        <p:txBody>
          <a:bodyPr wrap="square" anchor="t"/>
          <a:lstStyle/>
          <a:p>
            <a:pPr marL="228600" indent="-228600">
              <a:spcAft>
                <a:spcPts val="1400"/>
              </a:spcAft>
              <a:buSzPct val="100000"/>
              <a:buChar char="●"/>
            </a:pPr>
            <a:r>
              <a:rPr sz="1550">
                <a:solidFill>
                  <a:srgbClr val="1A1A2E"/>
                </a:solidFill>
                <a:latin typeface="Calibri"/>
                <a:ea typeface="Calibri"/>
                <a:cs typeface="Calibri"/>
              </a:rPr>
              <a:t>The proposal presents an autonomous mobile STM32-based system for spatial digital communication analysis and signal fault localization, extending a conventional logic analyzer with a mobile rover, wireless monitoring, position estimation, and laptop-based visualization.</a:t>
            </a:r>
            <a:endParaRPr sz="1550"/>
          </a:p>
          <a:p>
            <a:pPr marL="228600" indent="-228600">
              <a:spcAft>
                <a:spcPts val="1400"/>
              </a:spcAft>
              <a:buSzPct val="100000"/>
              <a:buChar char="●"/>
            </a:pPr>
            <a:r>
              <a:rPr sz="1550">
                <a:solidFill>
                  <a:srgbClr val="1A1A2E"/>
                </a:solidFill>
                <a:latin typeface="Calibri"/>
                <a:ea typeface="Calibri"/>
                <a:cs typeface="Calibri"/>
              </a:rPr>
              <a:t>The system addresses a practical engineering problem: identifying how communication quality changes across a physical environment, by pairing signal measurements with rover position to reveal weak-signal areas, packet-loss regions, timing errors, and protocol faults.</a:t>
            </a:r>
            <a:endParaRPr sz="1550"/>
          </a:p>
          <a:p>
            <a:pPr marL="228600" indent="-228600">
              <a:spcAft>
                <a:spcPts val="1400"/>
              </a:spcAft>
              <a:buSzPct val="100000"/>
              <a:buChar char="●"/>
            </a:pPr>
            <a:r>
              <a:rPr sz="1550">
                <a:solidFill>
                  <a:srgbClr val="1A1A2E"/>
                </a:solidFill>
                <a:latin typeface="Calibri"/>
                <a:ea typeface="Calibri"/>
                <a:cs typeface="Calibri"/>
              </a:rPr>
              <a:t>The project progresses from a basic logic analyzer to a complete mobile cyber-physical system, with measurable results from comparisons of position accuracy, scanning time, packet-loss detection, signal-map quality, and adaptive measurement performance.</a:t>
            </a:r>
            <a:endParaRPr sz="1550"/>
          </a:p>
          <a:p>
            <a:pPr marL="228600" indent="-228600">
              <a:spcAft>
                <a:spcPts val="1400"/>
              </a:spcAft>
              <a:buSzPct val="100000"/>
              <a:buChar char="●"/>
            </a:pPr>
            <a:r>
              <a:rPr sz="1550">
                <a:solidFill>
                  <a:srgbClr val="1A1A2E"/>
                </a:solidFill>
                <a:latin typeface="Calibri"/>
                <a:ea typeface="Calibri"/>
                <a:cs typeface="Calibri"/>
              </a:rPr>
              <a:t>The proposed work is technically feasible using low-cost hardware and existing STM32 knowledge; approval is requested to proceed with design, implementation, testing, and evaluation.</a:t>
            </a:r>
            <a:endParaRPr sz="1550"/>
          </a:p>
        </p:txBody>
      </p:sp>
      <p:sp>
        <p:nvSpPr>
          <p:cNvPr id="6" name="Text 3">
            <a:extLst>
              <a:ext uri="{FF2B5EF4-FFF2-40B4-BE49-F238E27FC236}">
                <a16:creationId xmlns:a16="http://schemas.microsoft.com/office/drawing/2014/main" id="{409B46E0-0172-4761-9A75-5954E31D7D9C}"/>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16</a:t>
            </a:r>
            <a:endParaRPr sz="1100"/>
          </a:p>
        </p:txBody>
      </p:sp>
    </p:spTree>
    <p:extLst>
      <p:ext uri="{BB962C8B-B14F-4D97-AF65-F5344CB8AC3E}">
        <p14:creationId xmlns:p14="http://schemas.microsoft.com/office/powerpoint/2010/main" val="560031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Image 0"/>
          <p:cNvPicPr>
            <a:picLocks noChangeAspect="1"/>
          </p:cNvPicPr>
          <p:nvPr/>
        </p:nvPicPr>
        <p:blipFill>
          <a:blip r:embed="rId3"/>
          <a:stretch>
            <a:fillRect/>
          </a:stretch>
        </p:blipFill>
        <p:spPr>
          <a:xfrm>
            <a:off x="11109960" y="228600"/>
            <a:ext cx="685800" cy="512064"/>
          </a:xfrm>
          <a:prstGeom prst="rect">
            <a:avLst/>
          </a:prstGeom>
        </p:spPr>
      </p:pic>
      <p:sp>
        <p:nvSpPr>
          <p:cNvPr id="3" name="Text 0">
            <a:extLst>
              <a:ext uri="{FF2B5EF4-FFF2-40B4-BE49-F238E27FC236}">
                <a16:creationId xmlns:a16="http://schemas.microsoft.com/office/drawing/2014/main" id="{BA768569-0309-4658-9E4A-701F6616D31F}"/>
              </a:ext>
            </a:extLst>
          </p:cNvPr>
          <p:cNvSpPr>
            <a:spLocks noGrp="1"/>
          </p:cNvSpPr>
          <p:nvPr/>
        </p:nvSpPr>
        <p:spPr>
          <a:xfrm>
            <a:off x="457200" y="201168"/>
            <a:ext cx="10424160" cy="320040"/>
          </a:xfrm>
          <a:prstGeom prst="rect">
            <a:avLst/>
          </a:prstGeom>
          <a:noFill/>
        </p:spPr>
        <p:txBody>
          <a:bodyPr wrap="square" anchor="ctr"/>
          <a:lstStyle/>
          <a:p>
            <a:pPr marL="0" indent="0" algn="l">
              <a:buNone/>
            </a:pPr>
            <a:r>
              <a:rPr sz="1100" b="1">
                <a:solidFill>
                  <a:srgbClr val="5A5A6E"/>
                </a:solidFill>
                <a:latin typeface="Calibri"/>
                <a:ea typeface="Calibri"/>
                <a:cs typeface="Calibri"/>
              </a:rPr>
              <a:t>21ECC301P - MICROPROCESSOR, MICROCONTROLLER, AND INTERFACING TECHNIQUES</a:t>
            </a:r>
            <a:endParaRPr sz="1100"/>
          </a:p>
        </p:txBody>
      </p:sp>
      <p:sp>
        <p:nvSpPr>
          <p:cNvPr id="4" name="Text 1">
            <a:extLst>
              <a:ext uri="{FF2B5EF4-FFF2-40B4-BE49-F238E27FC236}">
                <a16:creationId xmlns:a16="http://schemas.microsoft.com/office/drawing/2014/main" id="{6BB97351-4910-4722-B859-ABD306710D1E}"/>
              </a:ext>
            </a:extLst>
          </p:cNvPr>
          <p:cNvSpPr>
            <a:spLocks noGrp="1"/>
          </p:cNvSpPr>
          <p:nvPr/>
        </p:nvSpPr>
        <p:spPr>
          <a:xfrm>
            <a:off x="457200" y="566928"/>
            <a:ext cx="11247120" cy="566928"/>
          </a:xfrm>
          <a:prstGeom prst="rect">
            <a:avLst/>
          </a:prstGeom>
          <a:noFill/>
        </p:spPr>
        <p:txBody>
          <a:bodyPr wrap="square" anchor="ctr"/>
          <a:lstStyle/>
          <a:p>
            <a:pPr marL="0" indent="0" algn="l">
              <a:buNone/>
            </a:pPr>
            <a:r>
              <a:rPr sz="3000" b="1">
                <a:solidFill>
                  <a:srgbClr val="1E2761"/>
                </a:solidFill>
                <a:latin typeface="Cambria"/>
                <a:ea typeface="Cambria"/>
                <a:cs typeface="Cambria"/>
              </a:rPr>
              <a:t>REFERENCES</a:t>
            </a:r>
            <a:endParaRPr sz="3000"/>
          </a:p>
        </p:txBody>
      </p:sp>
      <p:sp>
        <p:nvSpPr>
          <p:cNvPr id="5" name="Text 2">
            <a:extLst>
              <a:ext uri="{FF2B5EF4-FFF2-40B4-BE49-F238E27FC236}">
                <a16:creationId xmlns:a16="http://schemas.microsoft.com/office/drawing/2014/main" id="{1A16B78B-8C80-4843-9C5B-E6895FB82691}"/>
              </a:ext>
            </a:extLst>
          </p:cNvPr>
          <p:cNvSpPr>
            <a:spLocks noGrp="1"/>
          </p:cNvSpPr>
          <p:nvPr/>
        </p:nvSpPr>
        <p:spPr>
          <a:xfrm>
            <a:off x="731520" y="1508760"/>
            <a:ext cx="10698480" cy="4754880"/>
          </a:xfrm>
          <a:prstGeom prst="rect">
            <a:avLst/>
          </a:prstGeom>
          <a:noFill/>
        </p:spPr>
        <p:txBody>
          <a:bodyPr wrap="square" anchor="t"/>
          <a:lstStyle/>
          <a:p>
            <a:r>
              <a:rPr sz="1000"/>
              <a:t>[1] J. Biswas and M. Veloso, “WiFi Localization and Navigation for Autonomous Indoor Mobile Robots,” Proc. IEEE ICRA, pp. 4379–4384, 2010. doi:10.1109/ROBOT.2010.5509842.</a:t>
            </a:r>
          </a:p>
          <a:p>
            <a:r>
              <a:rPr sz="1000"/>
              <a:t>[2] E. Menegatti, A. Zanella, S. Zilli, F. Zorzi, and E. Pagello, “Range-only SLAM with a Mobile Robot and a Wireless Sensor Networks,” Proc. IEEE ICRA, pp. 1699–1705, 2009. doi:10.1109/ROBOT.2009.5152449.</a:t>
            </a:r>
          </a:p>
          <a:p>
            <a:r>
              <a:rPr sz="1000"/>
              <a:t>[3] N. A. Sabto and K. Al Mutib, “Autonomous mobile robot localization based on RSSI measurements using an RFID sensor and neural network BPANN,” J. King Saud Univ.–Comput. Inf. Sci., vol. 25, no. 2, pp. 137–143, 2013. doi:10.1016/j.jksuci.2012.10.001.</a:t>
            </a:r>
          </a:p>
          <a:p>
            <a:r>
              <a:rPr sz="1000"/>
              <a:t>[4] L. Oliveira, H. Li, L. Almeida, and T. E. Abrudan, “RSSI-based relative localisation for mobile robots,” Ad Hoc Networks, 2013. doi:10.1016/j.adhoc.2013.07.007.</a:t>
            </a:r>
          </a:p>
          <a:p>
            <a:r>
              <a:rPr sz="1000"/>
              <a:t>[5] C.-C. Hsu, S.-S. Yeh, and P.-L. Hsu, “Particle filter design for mobile robot localization based on received signal strength indicator,” Trans. Inst. Meas. Control, vol. 38, no. 11, 2016. doi:10.1177/0142331215586615.</a:t>
            </a:r>
          </a:p>
          <a:p>
            <a:r>
              <a:rPr sz="1000"/>
              <a:t>[6] R. Miyagusuku, A. Yamashita, and H. Asama, “Precise and accurate wireless signal strength mappings using Gaussian processes and path loss models,” Robotics and Autonomous Systems, vol. 103, pp. 134–150, 2018. doi:10.1016/j.robot.2018.02.011.</a:t>
            </a:r>
          </a:p>
          <a:p>
            <a:r>
              <a:rPr sz="1000"/>
              <a:t>[7] “Comparing WiFi RSS Filtering for Wireless Robot Location System,” Procedia Manufacturing, vol. 30, pp. 143–150, 2019. doi:10.1016/j.promfg.2019.02.021.</a:t>
            </a:r>
          </a:p>
          <a:p>
            <a:r>
              <a:rPr sz="1000"/>
              <a:t>[8] W. Sun et al., “Model predictive control for wireless communication reliability of mobile inspection robots in substations,” Computer Networks, 2026. doi:10.1016/j.comnet.2026.112484.</a:t>
            </a:r>
          </a:p>
        </p:txBody>
      </p:sp>
      <p:sp>
        <p:nvSpPr>
          <p:cNvPr id="6" name="Text 3">
            <a:extLst>
              <a:ext uri="{FF2B5EF4-FFF2-40B4-BE49-F238E27FC236}">
                <a16:creationId xmlns:a16="http://schemas.microsoft.com/office/drawing/2014/main" id="{65B6892A-C5F6-4FB9-BB54-2F7EA6C5F706}"/>
              </a:ext>
            </a:extLst>
          </p:cNvPr>
          <p:cNvSpPr>
            <a:spLocks noGrp="1"/>
          </p:cNvSpPr>
          <p:nvPr/>
        </p:nvSpPr>
        <p:spPr>
          <a:xfrm>
            <a:off x="11521440" y="6446520"/>
            <a:ext cx="457200" cy="320040"/>
          </a:xfrm>
          <a:prstGeom prst="rect">
            <a:avLst/>
          </a:prstGeom>
          <a:noFill/>
        </p:spPr>
        <p:txBody>
          <a:bodyPr wrap="square" anchor="ctr"/>
          <a:lstStyle/>
          <a:p>
            <a:pPr marL="0" indent="0" algn="r">
              <a:buNone/>
            </a:pPr>
            <a:r>
              <a:rPr sz="1100">
                <a:solidFill>
                  <a:srgbClr val="5A5A6E"/>
                </a:solidFill>
                <a:latin typeface="Calibri"/>
                <a:ea typeface="Calibri"/>
                <a:cs typeface="Calibri"/>
              </a:rPr>
              <a:t>17</a:t>
            </a:r>
            <a:endParaRPr sz="1100"/>
          </a:p>
        </p:txBody>
      </p:sp>
    </p:spTree>
    <p:extLst>
      <p:ext uri="{BB962C8B-B14F-4D97-AF65-F5344CB8AC3E}">
        <p14:creationId xmlns:p14="http://schemas.microsoft.com/office/powerpoint/2010/main" val="203806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2863</Words>
  <Application>Microsoft Office PowerPoint</Application>
  <DocSecurity>0</DocSecurity>
  <PresentationFormat>Widescreen</PresentationFormat>
  <Paragraphs>376</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Shreevatsa Yeelarthi</cp:lastModifiedBy>
  <cp:revision>2</cp:revision>
  <dcterms:created xsi:type="dcterms:W3CDTF">2026-10-01T04:41:56Z</dcterms:created>
  <dcterms:modified xsi:type="dcterms:W3CDTF">2026-10-01T08:27:56Z</dcterms:modified>
</cp:coreProperties>
</file>